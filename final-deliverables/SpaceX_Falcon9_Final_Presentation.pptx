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26caed0413a491a" /><Relationship Type="http://schemas.openxmlformats.org/officeDocument/2006/relationships/extended-properties" Target="/docProps/app.xml" Id="R51597facfdb24342" /><Relationship Type="http://schemas.openxmlformats.org/officeDocument/2006/relationships/officeDocument" Target="/ppt/presentation.xml" Id="Rcb9c31abd0e34b4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081a0a728fc4408"/>
  </p:sldMasterIdLst>
  <p:notesMasterIdLst>
    <p:notesMasterId xmlns:r="http://schemas.openxmlformats.org/officeDocument/2006/relationships" r:id="R3035b4e9eb2a4a82"/>
  </p:notesMasterIdLst>
  <p:sldIdLst>
    <p:sldId xmlns:r="http://schemas.openxmlformats.org/officeDocument/2006/relationships" id="256" r:id="Re80bbf865b9f4274"/>
    <p:sldId xmlns:r="http://schemas.openxmlformats.org/officeDocument/2006/relationships" id="257" r:id="Rf5ffe3c42d594259"/>
    <p:sldId xmlns:r="http://schemas.openxmlformats.org/officeDocument/2006/relationships" id="258" r:id="R8024f5c05ab34f44"/>
    <p:sldId xmlns:r="http://schemas.openxmlformats.org/officeDocument/2006/relationships" id="259" r:id="R5a26d2c55592435d"/>
    <p:sldId xmlns:r="http://schemas.openxmlformats.org/officeDocument/2006/relationships" id="260" r:id="Rf7fe5876a2394b11"/>
    <p:sldId xmlns:r="http://schemas.openxmlformats.org/officeDocument/2006/relationships" id="261" r:id="Rd4bb823205344e8e"/>
    <p:sldId xmlns:r="http://schemas.openxmlformats.org/officeDocument/2006/relationships" id="262" r:id="R1e2ea19e9d5345c2"/>
    <p:sldId xmlns:r="http://schemas.openxmlformats.org/officeDocument/2006/relationships" id="263" r:id="R3ae195433cf747eb"/>
    <p:sldId xmlns:r="http://schemas.openxmlformats.org/officeDocument/2006/relationships" id="264" r:id="R0c0b6ab1fd194dd2"/>
    <p:sldId xmlns:r="http://schemas.openxmlformats.org/officeDocument/2006/relationships" id="265" r:id="R4076e71b3855437a"/>
    <p:sldId xmlns:r="http://schemas.openxmlformats.org/officeDocument/2006/relationships" id="266" r:id="Re174a87ef3b946eb"/>
    <p:sldId xmlns:r="http://schemas.openxmlformats.org/officeDocument/2006/relationships" id="267" r:id="R0810f202c7614972"/>
    <p:sldId xmlns:r="http://schemas.openxmlformats.org/officeDocument/2006/relationships" id="268" r:id="R8b9d3c7df1f3494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08587884b1847b2" /><Relationship Type="http://schemas.openxmlformats.org/officeDocument/2006/relationships/slideMaster" Target="/ppt/slideMasters/slideMaster1.xml" Id="R5081a0a728fc4408" /><Relationship Type="http://schemas.openxmlformats.org/officeDocument/2006/relationships/notesMaster" Target="/ppt/notesMasters/notesMaster1.xml" Id="R3035b4e9eb2a4a82" /><Relationship Type="http://schemas.openxmlformats.org/officeDocument/2006/relationships/presProps" Target="/ppt/presProps.xml" Id="Rc36ccc2bd6ee4743" /><Relationship Type="http://schemas.openxmlformats.org/officeDocument/2006/relationships/tableStyles" Target="/ppt/tableStyles.xml" Id="Rbc63d8db77254efe" /><Relationship Type="http://schemas.openxmlformats.org/officeDocument/2006/relationships/slide" Target="/ppt/slides/slide1.xml" Id="Re80bbf865b9f4274" /><Relationship Type="http://schemas.openxmlformats.org/officeDocument/2006/relationships/slide" Target="/ppt/slides/slide2.xml" Id="Rf5ffe3c42d594259" /><Relationship Type="http://schemas.openxmlformats.org/officeDocument/2006/relationships/slide" Target="/ppt/slides/slide3.xml" Id="R8024f5c05ab34f44" /><Relationship Type="http://schemas.openxmlformats.org/officeDocument/2006/relationships/slide" Target="/ppt/slides/slide4.xml" Id="R5a26d2c55592435d" /><Relationship Type="http://schemas.openxmlformats.org/officeDocument/2006/relationships/slide" Target="/ppt/slides/slide5.xml" Id="Rf7fe5876a2394b11" /><Relationship Type="http://schemas.openxmlformats.org/officeDocument/2006/relationships/slide" Target="/ppt/slides/slide6.xml" Id="Rd4bb823205344e8e" /><Relationship Type="http://schemas.openxmlformats.org/officeDocument/2006/relationships/slide" Target="/ppt/slides/slide7.xml" Id="R1e2ea19e9d5345c2" /><Relationship Type="http://schemas.openxmlformats.org/officeDocument/2006/relationships/slide" Target="/ppt/slides/slide8.xml" Id="R3ae195433cf747eb" /><Relationship Type="http://schemas.openxmlformats.org/officeDocument/2006/relationships/slide" Target="/ppt/slides/slide9.xml" Id="R0c0b6ab1fd194dd2" /><Relationship Type="http://schemas.openxmlformats.org/officeDocument/2006/relationships/slide" Target="/ppt/slides/slide10.xml" Id="R4076e71b3855437a" /><Relationship Type="http://schemas.openxmlformats.org/officeDocument/2006/relationships/slide" Target="/ppt/slides/slide11.xml" Id="Re174a87ef3b946eb" /><Relationship Type="http://schemas.openxmlformats.org/officeDocument/2006/relationships/slide" Target="/ppt/slides/slide12.xml" Id="R0810f202c7614972" /><Relationship Type="http://schemas.openxmlformats.org/officeDocument/2006/relationships/slide" Target="/ppt/slides/slide13.xml" Id="R8b9d3c7df1f349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25a55a5de3475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c001e6c901b4307" /><Relationship Type="http://schemas.openxmlformats.org/officeDocument/2006/relationships/notesMaster" Target="/ppt/notesMasters/notesMaster1.xml" Id="R4369aaf8e2e64e0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d602ac896894bda" /><Relationship Type="http://schemas.openxmlformats.org/officeDocument/2006/relationships/notesMaster" Target="/ppt/notesMasters/notesMaster1.xml" Id="R519c1387c30d4e6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8285b48a8874c08" /><Relationship Type="http://schemas.openxmlformats.org/officeDocument/2006/relationships/notesMaster" Target="/ppt/notesMasters/notesMaster1.xml" Id="R918acea4c3d6462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86237b210a74c28" /><Relationship Type="http://schemas.openxmlformats.org/officeDocument/2006/relationships/notesMaster" Target="/ppt/notesMasters/notesMaster1.xml" Id="R5de14568bc684d0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2e58ce9a0fc43bb" /><Relationship Type="http://schemas.openxmlformats.org/officeDocument/2006/relationships/notesMaster" Target="/ppt/notesMasters/notesMaster1.xml" Id="R569b1d8bddfa4c6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a8c2b6449344f1e" /><Relationship Type="http://schemas.openxmlformats.org/officeDocument/2006/relationships/notesMaster" Target="/ppt/notesMasters/notesMaster1.xml" Id="Rcd92059ab09b46c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ac0c0d45dc043fc" /><Relationship Type="http://schemas.openxmlformats.org/officeDocument/2006/relationships/notesMaster" Target="/ppt/notesMasters/notesMaster1.xml" Id="R3b2d910802af41c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e421b77543f424c" /><Relationship Type="http://schemas.openxmlformats.org/officeDocument/2006/relationships/notesMaster" Target="/ppt/notesMasters/notesMaster1.xml" Id="Rbe5b06937a95414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d830db248324c03" /><Relationship Type="http://schemas.openxmlformats.org/officeDocument/2006/relationships/notesMaster" Target="/ppt/notesMasters/notesMaster1.xml" Id="R478199e960b845d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735d645a8cf4a05" /><Relationship Type="http://schemas.openxmlformats.org/officeDocument/2006/relationships/notesMaster" Target="/ppt/notesMasters/notesMaster1.xml" Id="R088f927cfd08495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0419e28894141c7" /><Relationship Type="http://schemas.openxmlformats.org/officeDocument/2006/relationships/notesMaster" Target="/ppt/notesMasters/notesMaster1.xml" Id="R318d268bda7d440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7d3efa57c924b4f" /><Relationship Type="http://schemas.openxmlformats.org/officeDocument/2006/relationships/notesMaster" Target="/ppt/notesMasters/notesMaster1.xml" Id="R6366fb6e0d414b7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e7c092e732947be" /><Relationship Type="http://schemas.openxmlformats.org/officeDocument/2006/relationships/notesMaster" Target="/ppt/notesMasters/notesMaster1.xml" Id="R2bd01cf55bf44f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completed notebooks in C:/Users/Administrator/Downloads/completed/ipynb.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 Wrangling notebook: class mean 0.8777778.</a:t>
            </a:r>
          </a:p>
          <a:p xmlns:a="http://schemas.openxmlformats.org/drawingml/2006/main">
            <a:r>
              <a:t>- Machine Learning notebook: model_scores output.</a:t>
            </a:r>
          </a:p>
          <a:p xmlns:a="http://schemas.openxmlformats.org/drawingml/2006/main">
            <a:r>
              <a:t>- Dash screenshot: All Sites success share.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Completed notebooks and spacex-dash-app.py supplied by the user.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API collection notebook outputs.</a:t>
            </a:r>
          </a:p>
          <a:p xmlns:a="http://schemas.openxmlformats.org/drawingml/2006/main">
            <a:r>
              <a:t>- Web scraping notebook: parsed DataFrame with 121 rows.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 Wrangling notebook Tasks 1-4.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EDA visualization notebook cells 32 and 46.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SQL notebook Tasks 3-10.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Folium notebook and spacex_launch_site_proximity_map.html supplied by the user.</a:t>
            </a:r>
          </a:p>
          <a:p xmlns:a="http://schemas.openxmlformats.org/drawingml/2006/main">
            <a:r>
              <a:t>- OpenStreetMap tiles rendered from the interactive map.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spacex-dash-app_1.png.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spacex-dash-app_2.png.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Machine Learning notebook model_scores output and decision-tree confusion matrix.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Synthesis of user-provided EDA, dashboard, SQL, Folium, and ML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project assets supplied by the user.</a:t>
            </a:r>
          </a:p>
          <a:p xmlns:a="http://schemas.openxmlformats.org/drawingml/2006/main">
            <a:r>
              <a:t>- https://github.com/TristinWen/spacex-falcon9-landing-prediction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53c19dddc1445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e37efaab42a49b7" /><Relationship Type="http://schemas.openxmlformats.org/officeDocument/2006/relationships/slideLayout" Target="/ppt/slideLayouts/slideLayout1.xml" Id="Rb8e9d20fa8c04b4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e9d20fa8c04b4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ed40ea51c94fda" /><Relationship Type="http://schemas.openxmlformats.org/officeDocument/2006/relationships/notesSlide" Target="/ppt/notesSlides/notesSlide1.xml" Id="R66f6a71f439b444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480f36173f4d5a" /><Relationship Type="http://schemas.openxmlformats.org/officeDocument/2006/relationships/notesSlide" Target="/ppt/notesSlides/notesSlide2.xml" Id="R8114e28e29c0436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f4e444f25d4417" /><Relationship Type="http://schemas.openxmlformats.org/officeDocument/2006/relationships/notesSlide" Target="/ppt/notesSlides/notesSlide3.xml" Id="R865097b4e312452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e3cf2998604dda" /><Relationship Type="http://schemas.openxmlformats.org/officeDocument/2006/relationships/notesSlide" Target="/ppt/notesSlides/notesSlide4.xml" Id="R2aad95e9f8c54e6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e5555ce0424e85" /><Relationship Type="http://schemas.openxmlformats.org/officeDocument/2006/relationships/notesSlide" Target="/ppt/notesSlides/notesSlide5.xml" Id="R6c86a291dbc942f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6c19f88e644f4d" /><Relationship Type="http://schemas.openxmlformats.org/officeDocument/2006/relationships/image" Target="/ppt/media/image.png" Id="R1c02d6f2b4314b3f" /><Relationship Type="http://schemas.openxmlformats.org/officeDocument/2006/relationships/image" Target="/ppt/media/image2.png" Id="R8bb9fff49c224d42" /><Relationship Type="http://schemas.openxmlformats.org/officeDocument/2006/relationships/notesSlide" Target="/ppt/notesSlides/notesSlide6.xml" Id="R958edee47575484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bc77320feb42e8" /><Relationship Type="http://schemas.openxmlformats.org/officeDocument/2006/relationships/notesSlide" Target="/ppt/notesSlides/notesSlide7.xml" Id="R458690f6e48a46c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1764c4d3274cdc" /><Relationship Type="http://schemas.openxmlformats.org/officeDocument/2006/relationships/image" Target="/ppt/media/image3.png" Id="Rc82b78dfdefa46a5" /><Relationship Type="http://schemas.openxmlformats.org/officeDocument/2006/relationships/notesSlide" Target="/ppt/notesSlides/notesSlide8.xml" Id="R80dd25a613f8459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2011c96b624a7e" /><Relationship Type="http://schemas.openxmlformats.org/officeDocument/2006/relationships/image" Target="/ppt/media/image4.png" Id="R3a162c83700c4abc" /><Relationship Type="http://schemas.openxmlformats.org/officeDocument/2006/relationships/notesSlide" Target="/ppt/notesSlides/notesSlide9.xml" Id="R48f0df0d9ec6495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3e8cecf1324785" /><Relationship Type="http://schemas.openxmlformats.org/officeDocument/2006/relationships/image" Target="/ppt/media/image5.png" Id="Rd6690acb8272443e" /><Relationship Type="http://schemas.openxmlformats.org/officeDocument/2006/relationships/notesSlide" Target="/ppt/notesSlides/notesSlide10.xml" Id="Rab847978bebb465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ec3ec8ff4744c8" /><Relationship Type="http://schemas.openxmlformats.org/officeDocument/2006/relationships/image" Target="/ppt/media/image6.png" Id="R00b7ad0564c0433d" /><Relationship Type="http://schemas.openxmlformats.org/officeDocument/2006/relationships/notesSlide" Target="/ppt/notesSlides/notesSlide11.xml" Id="Raecd33ba7fd54eb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6ce1d5a52b4e6a" /><Relationship Type="http://schemas.openxmlformats.org/officeDocument/2006/relationships/notesSlide" Target="/ppt/notesSlides/notesSlide12.xml" Id="Reb1aae46f20b441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6d6edba4b74159" /><Relationship Type="http://schemas.openxmlformats.org/officeDocument/2006/relationships/notesSlide" Target="/ppt/notesSlides/notesSlide13.xml" Id="R6469f8666f2347a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64292A-8005-4AA1-9B0F-F2E4A29C0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709987-F886-4367-B52D-647E40873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81125"/>
            <a:ext cx="80962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111"/>
                </a:solidFill>
              </a:defRPr>
            </a:pPr>
            <a:r>
              <a:rPr sz="4350" b="1">
                <a:solidFill>
                  <a:srgbClr val="111111"/>
                </a:solidFill>
              </a:rPr>
              <a:t>SpaceX Falcon 9</a:t>
            </a:r>
          </a:p>
          <a:p xmlns:a="http://schemas.openxmlformats.org/drawingml/2006/main">
            <a:pPr algn="l">
              <a:defRPr sz="4350" b="1">
                <a:solidFill>
                  <a:srgbClr val="111111"/>
                </a:solidFill>
              </a:defRPr>
            </a:pPr>
            <a:r>
              <a:rPr sz="4350" b="1">
                <a:solidFill>
                  <a:srgbClr val="111111"/>
                </a:solidFill>
              </a:rPr>
              <a:t>First-Stage Landing Prediction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7C46C0-635A-4BCC-9886-281294734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908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0646C"/>
                </a:solidFill>
              </a:defRPr>
            </a:pPr>
            <a:r>
              <a:rPr sz="1950" b="0">
                <a:solidFill>
                  <a:srgbClr val="60646C"/>
                </a:solidFill>
              </a:rPr>
              <a:t>IBM Data Science Capstone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5208B5-A14A-4EE1-81DC-711962ACF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904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Final presentation | Data collection, analysis, interactive visualization, and machine learning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16E287-80CE-4CB0-9360-8FE802B21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10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Dataset period: 2010-2020</a:t>
            </a:r>
          </a:p>
        </p:txBody>
      </p:sp>
    </p:spTree>
    <p:extLst>
      <p:ext uri="{BB962C8B-B14F-4D97-AF65-F5344CB8AC3E}">
        <p14:creationId xmlns:p14="http://schemas.microsoft.com/office/powerpoint/2010/main" val="12193618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BE1742-1DDD-4CCC-8223-ECF15765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EXECUTIVE SUMMARY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59D412-D9EC-441D-A0BA-99F9FE1D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The analysis identifies where and when Falcon 9 landings succeed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C7CEF8-A1A3-41EB-95B2-271D52260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23CF1E-57C5-4383-ACE7-34F5579C5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A reusable first stage lowers launch cost, so predicting landing success supports competitive bid estimates.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D76A42-BA71-4754-9010-96EED8348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</a:defRPr>
            </a:pPr>
            <a:r>
              <a:rPr sz="4050" b="1">
                <a:solidFill>
                  <a:srgbClr val="3D8DFF"/>
                </a:solidFill>
              </a:rPr>
              <a:t>90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BCF40D-89E2-4DA0-A083-90C3E26FA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646C"/>
                </a:solidFill>
              </a:defRPr>
            </a:pPr>
            <a:r>
              <a:rPr sz="1350" b="0">
                <a:solidFill>
                  <a:srgbClr val="60646C"/>
                </a:solidFill>
              </a:rPr>
              <a:t>Falcon 9 launches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B814ED-F763-45CE-BD81-E8A4AF534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1336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3A36F"/>
                </a:solidFill>
              </a:defRPr>
            </a:pPr>
            <a:r>
              <a:rPr sz="4050" b="1">
                <a:solidFill>
                  <a:srgbClr val="13A36F"/>
                </a:solidFill>
              </a:rPr>
              <a:t>87.8%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914495-4CDC-45FB-90D3-2FD2F957B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2895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646C"/>
                </a:solidFill>
              </a:defRPr>
            </a:pPr>
            <a:r>
              <a:rPr sz="1350" b="0">
                <a:solidFill>
                  <a:srgbClr val="60646C"/>
                </a:solidFill>
              </a:rPr>
              <a:t>successful landings in prepared labels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80B32B-50E2-4D9C-81E1-FBD8D7011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336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</a:defRPr>
            </a:pPr>
            <a:r>
              <a:rPr sz="4050" b="1">
                <a:solidFill>
                  <a:srgbClr val="3D8DFF"/>
                </a:solidFill>
              </a:rPr>
              <a:t>83.3%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61E000-BC6D-4012-882E-4C6232ACE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2895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646C"/>
                </a:solidFill>
              </a:defRPr>
            </a:pPr>
            <a:r>
              <a:rPr sz="1350" b="0">
                <a:solidFill>
                  <a:srgbClr val="60646C"/>
                </a:solidFill>
              </a:rPr>
              <a:t>test accuracy across four models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E94242-5341-455A-A261-F4B7BE73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1336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E5533D"/>
                </a:solidFill>
              </a:defRPr>
            </a:pPr>
            <a:r>
              <a:rPr sz="4050" b="1">
                <a:solidFill>
                  <a:srgbClr val="E5533D"/>
                </a:solidFill>
              </a:rPr>
              <a:t>41.7%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2ED4FF-6528-4BDF-8197-CB9F793A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2895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646C"/>
                </a:solidFill>
              </a:defRPr>
            </a:pPr>
            <a:r>
              <a:rPr sz="1350" b="0">
                <a:solidFill>
                  <a:srgbClr val="60646C"/>
                </a:solidFill>
              </a:rPr>
              <a:t>share of all successful launches at KSC LC-39A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3E44DE-6E53-49BB-AACD-EF2B20259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Key implication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03E974-D9C5-49C8-A907-78CCC5AF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047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Operational history and launch context provide useful predictive signal, while launch site, orbit, payload, and booster configuration explain meaningful differences in outcomes.</a:t>
            </a:r>
          </a:p>
        </p:txBody>
      </p:sp>
    </p:spTree>
    <p:extLst>
      <p:ext uri="{BB962C8B-B14F-4D97-AF65-F5344CB8AC3E}">
        <p14:creationId xmlns:p14="http://schemas.microsoft.com/office/powerpoint/2010/main" val="156484233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78BF95-CAA8-4042-AE90-9173827E7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METHOD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559A59-DC99-4DB0-A4D5-A824AF05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The project combines seven analytical stages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5BEC53-2D9E-4FB7-AF20-88EB3D688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78BF4B-D855-477A-8AF1-2344D2455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13525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2C60C5-8D9D-4C7D-B9B5-1FA99C867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622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F045BC-B6D2-4DA0-A046-63D7C79B5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1123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API collection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7AFE18-C6D0-4D30-8C0F-0CD5AF40E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6479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8BCC4"/>
                </a:solidFill>
              </a:defRPr>
            </a:pPr>
            <a:r>
              <a:rPr sz="1800" b="1">
                <a:solidFill>
                  <a:srgbClr val="B8BCC4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9D7F0C-2B11-4CAA-9148-E91CD7A91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238375"/>
            <a:ext cx="13525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074D73-9BCD-4C2A-B000-2AD301DB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3622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672B8F-DB7F-4F64-8308-56179AD17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686050"/>
            <a:ext cx="1123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Web scraping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98D88F-101B-4A30-B852-0069576C7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6479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8BCC4"/>
                </a:solidFill>
              </a:defRPr>
            </a:pPr>
            <a:r>
              <a:rPr sz="1800" b="1">
                <a:solidFill>
                  <a:srgbClr val="B8BCC4"/>
                </a:solidFill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8B1FE7-89B9-4E1A-9A66-0645D42F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38375"/>
            <a:ext cx="13525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98AF4E-FE89-4A13-9E24-9669063B9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3622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F907F1-9E7F-4C28-83CD-33ACDF9F4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86050"/>
            <a:ext cx="1123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Wrangling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B36E16-2244-466A-A50A-16B6CC6A6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6479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8BCC4"/>
                </a:solidFill>
              </a:defRPr>
            </a:pPr>
            <a:r>
              <a:rPr sz="1800" b="1">
                <a:solidFill>
                  <a:srgbClr val="B8BCC4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D6D06E-63C1-4885-9729-D74EF85F7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238375"/>
            <a:ext cx="13525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3FE216-79AC-4211-8575-F07910166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3622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F6E606-E69C-4CB5-ABB1-58EB4D3A3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86050"/>
            <a:ext cx="1123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EDA + SQL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57E6E9-5E19-4C42-95F9-908B249BB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6479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8BCC4"/>
                </a:solidFill>
              </a:defRPr>
            </a:pPr>
            <a:r>
              <a:rPr sz="1800" b="1">
                <a:solidFill>
                  <a:srgbClr val="B8BCC4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7F64E3-4077-4E89-A580-CDB06944F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238375"/>
            <a:ext cx="13525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C7817C-9566-436B-A728-3A2E7EA1B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622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3D3548-57E8-43C4-AE2B-A1AF6556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686050"/>
            <a:ext cx="1123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Folium + Dash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42FA88-A045-4FEE-A377-F55826845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26479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8BCC4"/>
                </a:solidFill>
              </a:defRPr>
            </a:pPr>
            <a:r>
              <a:rPr sz="1800" b="1">
                <a:solidFill>
                  <a:srgbClr val="B8BCC4"/>
                </a:solidFill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8B86E8-60E9-44B9-97AE-2417360E9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38375"/>
            <a:ext cx="13525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307ADA-2A9E-4B31-AA7F-2924D2DC0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622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06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3BA7E7-2ED0-4523-A911-975D58EE8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686050"/>
            <a:ext cx="1123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Feature engineering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3F5DF6-DFE5-4EC2-8239-2FF9343D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6479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8BCC4"/>
                </a:solidFill>
              </a:defRPr>
            </a:pPr>
            <a:r>
              <a:rPr sz="1800" b="1">
                <a:solidFill>
                  <a:srgbClr val="B8BCC4"/>
                </a:solidFill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FB4B80-3BCF-45D1-88D5-76617D190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238375"/>
            <a:ext cx="13525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FB0198-FBEB-407D-AA1C-CCBDB58BB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622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07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31952E2-ECD1-4946-A2D1-C3B8A7CBF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686050"/>
            <a:ext cx="1123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Model selection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B0545D-7BAE-40B2-9ABA-DC841B402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0646C"/>
                </a:solidFill>
              </a:defRPr>
            </a:pPr>
            <a:r>
              <a:rPr sz="1800" b="0">
                <a:solidFill>
                  <a:srgbClr val="60646C"/>
                </a:solidFill>
              </a:rPr>
              <a:t>Evidence was retained in executed notebooks, dashboard screenshots, and an interactive Folium HTML map.</a:t>
            </a:r>
          </a:p>
        </p:txBody>
      </p:sp>
    </p:spTree>
    <p:extLst>
      <p:ext uri="{BB962C8B-B14F-4D97-AF65-F5344CB8AC3E}">
        <p14:creationId xmlns:p14="http://schemas.microsoft.com/office/powerpoint/2010/main" val="41430351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8D8F10-8EDE-43C3-81CD-C839BFDAC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DATA COLLECTION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37EF97-81BC-4290-9B21-188C13CC4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Two collection paths build the launch record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2E26E4-6B12-42EE-BC24-871D34195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9CB346-166B-4060-A007-CEB9237D0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4953000" cy="3667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F17A7C-8E46-447A-899E-7D10EEE3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2405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SpaceX REST API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28C026-65FF-4883-B622-93C2BC7CA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76500"/>
            <a:ext cx="4095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Past-launch JSON normalized into a DataFrame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Rocket, payload, core, and launchpad identifiers enriched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Final Falcon 9 table contains 90 launches and 17 fields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560FA1-7BD6-490B-B49E-250794BB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19250"/>
            <a:ext cx="5581650" cy="3667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029485-32EF-42F1-89BA-A509E1E69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2405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Wikipedia web scraping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879880-34B1-4C40-8339-A2917AB70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76500"/>
            <a:ext cx="4667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BeautifulSoup parses historical launch tables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121 launch rows extracted from the June 2021 snapshot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Fields include booster, payload, orbit, customer, outcome, and landing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133E00-C626-4D75-8CAD-AAB4F3D52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14875"/>
            <a:ext cx="971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</a:defRPr>
            </a:pPr>
            <a:r>
              <a:rPr sz="1500" b="1">
                <a:solidFill>
                  <a:srgbClr val="3D8DFF"/>
                </a:solidFill>
              </a:rPr>
              <a:t>Both paths provide complementary operational and mission context.</a:t>
            </a:r>
          </a:p>
        </p:txBody>
      </p:sp>
    </p:spTree>
    <p:extLst>
      <p:ext uri="{BB962C8B-B14F-4D97-AF65-F5344CB8AC3E}">
        <p14:creationId xmlns:p14="http://schemas.microsoft.com/office/powerpoint/2010/main" val="63636012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13F58B-00DC-458C-9DFA-699A12F9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WRANGLING + EDA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9B1D55-0599-4660-8839-D4EDA9F6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Launch activity concentrates at three sites and a few orbit types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397C4D-0EF7-4019-AE38-377E357E8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CFF3C5-2E94-4EFC-987C-61ED26A1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Launches by site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DE400E-4C09-4F7F-81DD-99B325536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CCAFS SLC 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7FD840-ED6F-4F6B-ADC5-426A045A7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095500"/>
            <a:ext cx="3667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B40ABC-8733-4B1E-9DB9-27ED03CDF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55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0F061A-96C1-416B-BB66-E17401C3C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KSC LC 39A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A5C5DA-8801-4243-9716-20323D00B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7622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98712E-3CD6-496D-A174-8332AFDB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622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C680D8-450A-4992-902E-EE035765B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VAFB SLC 4E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D3CD70-BF25-4964-9A0E-841500EE0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429000"/>
            <a:ext cx="8667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0BE47C-2AF3-4AFA-8F35-9E0F1848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290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13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60CA00-AD0E-41B5-808E-3902C8721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71625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Most common orbits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71EBE9-E3D1-4957-8FAF-89470AA1C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955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GTO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06A10E-4AE7-462E-8C6B-7157746B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95500"/>
            <a:ext cx="23145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7F44AF-D0A2-4F01-A2D9-E7288B278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095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27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D279A2-7156-473C-8FED-97CF5769C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860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ISS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515D83-9FFC-4822-946A-A1614F434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86050"/>
            <a:ext cx="18002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CADB35-2EBB-42D6-B248-AC7819DB8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68C520-19D7-4262-B4B0-64ABE690D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766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VLEO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B1E047-915B-4A55-B3C2-681CB68A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27660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12BBB3-C96C-4B71-A445-C6E6B73F6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2766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14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5574CE-5311-446F-8D5A-0CAC8452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671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PO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E4F63D-2715-43DB-A15F-4DFF9EA8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867150"/>
            <a:ext cx="771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C52CEB-66AD-4C91-96C9-0EA30A2D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8671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9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AD75B1-1D92-4201-B734-90750759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Landing outcomes were converted to a binary Class label; the resulting success share is 87.8%.</a:t>
            </a:r>
          </a:p>
        </p:txBody>
      </p:sp>
    </p:spTree>
    <p:extLst>
      <p:ext uri="{BB962C8B-B14F-4D97-AF65-F5344CB8AC3E}">
        <p14:creationId xmlns:p14="http://schemas.microsoft.com/office/powerpoint/2010/main" val="5462144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528ADC-A380-4EB8-BE63-C4F95A56B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EXPLORATORY DATA ANALYSIS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ED6E26-CCCE-4CEE-9E14-50C774B1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Success improves over time and varies by orbit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0B9A3F-16FB-47ED-87FA-3809CE41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02d6f2b4314b3f"/>
          <a:stretch xmlns:a="http://schemas.openxmlformats.org/drawingml/2006/main"/>
        </p:blipFill>
        <p:spPr>
          <a:xfrm xmlns:a="http://schemas.openxmlformats.org/drawingml/2006/main">
            <a:off x="609600" y="1767614"/>
            <a:ext cx="5286375" cy="3418023"/>
          </a:xfrm>
          <a:prstGeom xmlns:a="http://schemas.openxmlformats.org/drawingml/2006/main" prst="rect">
            <a:avLst/>
          </a:prstGeom>
        </p:spPr>
      </p:pic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b9fff49c224d42"/>
          <a:stretch xmlns:a="http://schemas.openxmlformats.org/drawingml/2006/main"/>
        </p:blipFill>
        <p:spPr>
          <a:xfrm xmlns:a="http://schemas.openxmlformats.org/drawingml/2006/main">
            <a:off x="6571655" y="1476375"/>
            <a:ext cx="4725591" cy="4000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3CEEAB-3E46-47C9-B1F5-350BBC008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5286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3A36F"/>
                </a:solidFill>
              </a:defRPr>
            </a:pPr>
            <a:r>
              <a:rPr sz="1425" b="1">
                <a:solidFill>
                  <a:srgbClr val="13A36F"/>
                </a:solidFill>
              </a:rPr>
              <a:t>The yearly trend rises as Falcon 9 operations mature.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84596E-68BA-429E-B282-88D0BDB3B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619750"/>
            <a:ext cx="5295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Orbit choice separates high- and low-success mission profiles.</a:t>
            </a:r>
          </a:p>
        </p:txBody>
      </p:sp>
    </p:spTree>
    <p:extLst>
      <p:ext uri="{BB962C8B-B14F-4D97-AF65-F5344CB8AC3E}">
        <p14:creationId xmlns:p14="http://schemas.microsoft.com/office/powerpoint/2010/main" val="171743251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B79FC8-EC22-44EF-ADC0-C83027D1E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SQL ANALYSIS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C0B570-5149-4401-93B8-2DAD9C86E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SQL confirms operational milestones and payload patterns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EBE61D-DFC0-4B05-BC76-5F9F954FE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40E48D-4440-468A-A4A2-B565E2C4C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FCE939-1CE5-4A41-AF1C-F7BA26855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526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NASA CRS payload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8FDA64-955E-42F7-9BEF-8196F628E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7526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45,596 kg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A59A4F-6859-4DE7-8C6E-A291D5147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Avg. F9 v1.1 payload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901063-4CA3-456B-AD52-2D4BC6F6D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193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2,928.4 kg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A57E18-34D2-423F-877E-FC38EA13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972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A84297-90C8-4AF7-886A-742EA5677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861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First ground-pad success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BF7604-FA85-4C48-9052-DB9FF948C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86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22 Dec 2015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C90F6B-0653-4100-A88E-A9384231A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5285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Successful missions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F072DC-5886-4746-AF36-E365445CB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528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100*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8B788B-9CE1-41C9-A452-20F1D52B3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972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C25EAC-D0D4-46BD-8C74-DE829E3D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96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Drone-ship successes, 2010-2017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2758DC-8C1B-4E5F-B25B-D9FDC00FF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4196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A6EE05-CFA7-4129-A106-E39F1509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646C"/>
                </a:solidFill>
              </a:defRPr>
            </a:pPr>
            <a:r>
              <a:rPr sz="1200" b="0">
                <a:solidFill>
                  <a:srgbClr val="60646C"/>
                </a:solidFill>
              </a:rPr>
              <a:t>*SQL source records include “Success” and “Success ” as separate text values.</a:t>
            </a:r>
          </a:p>
        </p:txBody>
      </p:sp>
    </p:spTree>
    <p:extLst>
      <p:ext uri="{BB962C8B-B14F-4D97-AF65-F5344CB8AC3E}">
        <p14:creationId xmlns:p14="http://schemas.microsoft.com/office/powerpoint/2010/main" val="13529387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E9DA7E-2BC1-4920-817A-B3037800C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FOLIUM GEOSPATIAL ANALYSIS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3ED96A-F1E5-4E6F-9148-B2AF21E9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Launch sites cluster on coastlines with transport access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A4B228-0057-49FB-B748-957F03C11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2b78dfdefa46a5"/>
          <a:srcRect xmlns:a="http://schemas.openxmlformats.org/drawingml/2006/main" l="0" t="877" r="0" b="8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428750"/>
            <a:ext cx="7239000" cy="4572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492FF5-A5F5-4204-A923-D263DF95D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145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Geographic findings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FFA984-3196-4AF3-8266-DB5B0F74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238375"/>
            <a:ext cx="29527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Sites are near coastlines, limiting risk over populated areas.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Florida sites cluster around Cape Canaveral and Kennedy Space Center.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The interactive map marks launch outcomes and distances to coast, city, railway, and highway.</a:t>
            </a:r>
          </a:p>
        </p:txBody>
      </p:sp>
    </p:spTree>
    <p:extLst>
      <p:ext uri="{BB962C8B-B14F-4D97-AF65-F5344CB8AC3E}">
        <p14:creationId xmlns:p14="http://schemas.microsoft.com/office/powerpoint/2010/main" val="209830543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EBAA32-0A77-4B69-BA3F-DB3D30BEE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PLOTLY DASH: ALL SITES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CD1CF2-76F4-44B9-BF71-8D42F1EA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KSC LC-39A contributes the largest share of successful launches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656AF5-5E3A-4980-BCCE-666B99480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162c83700c4abc"/>
          <a:stretch xmlns:a="http://schemas.openxmlformats.org/drawingml/2006/main"/>
        </p:blipFill>
        <p:spPr>
          <a:xfrm xmlns:a="http://schemas.openxmlformats.org/drawingml/2006/main">
            <a:off x="2347456" y="1381125"/>
            <a:ext cx="3953787" cy="4810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E14917-DFE8-4805-B55C-9C0D2D68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00025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3D8DFF"/>
                </a:solidFill>
              </a:defRPr>
            </a:pPr>
            <a:r>
              <a:rPr sz="3900" b="1">
                <a:solidFill>
                  <a:srgbClr val="3D8DFF"/>
                </a:solidFill>
              </a:rPr>
              <a:t>41.7%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F11495-3BC7-4412-9916-C12DF13BE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62250"/>
            <a:ext cx="2571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of all successful launches occurred at KSC LC-39A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19BE68-3EFC-4FA3-988F-38F4808EE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09575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0646C"/>
                </a:solidFill>
              </a:defRPr>
            </a:pPr>
            <a:r>
              <a:rPr sz="1500" b="0">
                <a:solidFill>
                  <a:srgbClr val="60646C"/>
                </a:solidFill>
              </a:rPr>
              <a:t>The payload scatter also shows outcome differences across booster versions.</a:t>
            </a:r>
          </a:p>
        </p:txBody>
      </p:sp>
    </p:spTree>
    <p:extLst>
      <p:ext uri="{BB962C8B-B14F-4D97-AF65-F5344CB8AC3E}">
        <p14:creationId xmlns:p14="http://schemas.microsoft.com/office/powerpoint/2010/main" val="8788513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1D4C27-FF8D-4C9C-AD4D-1CC83B470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PLOTLY DASH: SITE FILTER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694B90-ED54-4120-ABD1-952511989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CCAFS LC-40 records a 26.9% success rate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E3F12A-3856-4F2A-B3D4-0C6F5A1E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690acb8272443e"/>
          <a:stretch xmlns:a="http://schemas.openxmlformats.org/drawingml/2006/main"/>
        </p:blipFill>
        <p:spPr>
          <a:xfrm xmlns:a="http://schemas.openxmlformats.org/drawingml/2006/main">
            <a:off x="2339327" y="1381125"/>
            <a:ext cx="3970047" cy="4810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4E9023-1491-42CB-AE1C-9C7B02C8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00025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E5533D"/>
                </a:solidFill>
              </a:defRPr>
            </a:pPr>
            <a:r>
              <a:rPr sz="3900" b="1">
                <a:solidFill>
                  <a:srgbClr val="E5533D"/>
                </a:solidFill>
              </a:rPr>
              <a:t>26.9%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E9D428-7DC2-486B-9343-1C20B2994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622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successful launches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1C2891-2715-4770-A6FB-C3CB4A234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8612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3D8DFF"/>
                </a:solidFill>
              </a:defRPr>
            </a:pPr>
            <a:r>
              <a:rPr sz="1875" b="1">
                <a:solidFill>
                  <a:srgbClr val="3D8DFF"/>
                </a:solidFill>
              </a:rPr>
              <a:t>73.1% failed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D1DB81-3D4A-4631-BACF-FA0F42087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95750"/>
            <a:ext cx="304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0646C"/>
                </a:solidFill>
              </a:defRPr>
            </a:pPr>
            <a:r>
              <a:rPr sz="1500" b="0">
                <a:solidFill>
                  <a:srgbClr val="60646C"/>
                </a:solidFill>
              </a:rPr>
              <a:t>Filtering by site changes both the outcome pie and payload scatter, demonstrating the dashboard’s interactivity.</a:t>
            </a:r>
          </a:p>
        </p:txBody>
      </p:sp>
    </p:spTree>
    <p:extLst>
      <p:ext uri="{BB962C8B-B14F-4D97-AF65-F5344CB8AC3E}">
        <p14:creationId xmlns:p14="http://schemas.microsoft.com/office/powerpoint/2010/main" val="166223365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5A378F-4ADF-4D1B-AE2F-AA9EE9D13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PREDICTIVE ANALYSIS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1BCCCF-F093-428E-B5E7-F90C103C5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All four classifiers reach 83.3% test accuracy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D9761A-AED0-4510-BC46-291FCD687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192D8C-31A9-4FE8-B033-76BBA711F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Model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C5EFD5-EF1D-4149-877C-FB89FEF60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619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CV accuracy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F816F0-D5D0-4420-95B6-2A21EDBCD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619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Test accuracy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A130B9-F5AF-4A8E-B390-B8E06BAEA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666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360D0D-66F4-4429-9D61-316BB843A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1455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Logistic regression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DEA4C1-6106-4F1D-9DEE-BDF73291E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14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</a:defRPr>
            </a:pPr>
            <a:r>
              <a:rPr sz="1500" b="1">
                <a:solidFill>
                  <a:srgbClr val="3D8DFF"/>
                </a:solidFill>
              </a:rPr>
              <a:t>84.6%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C91FEF-8B14-4B89-B043-213FABC8F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14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3A36F"/>
                </a:solidFill>
              </a:defRPr>
            </a:pPr>
            <a:r>
              <a:rPr sz="1500" b="1">
                <a:solidFill>
                  <a:srgbClr val="13A36F"/>
                </a:solidFill>
              </a:rPr>
              <a:t>83.3%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6C3B2D-A767-4C9D-9F4F-8627E3235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Support vector machine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87E774-0B05-4B9F-A7AB-1F175FCF5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051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</a:defRPr>
            </a:pPr>
            <a:r>
              <a:rPr sz="1500" b="1">
                <a:solidFill>
                  <a:srgbClr val="3D8DFF"/>
                </a:solidFill>
              </a:rPr>
              <a:t>84.8%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D25DA4-72D6-4AAA-B76A-609E07F73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051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3A36F"/>
                </a:solidFill>
              </a:defRPr>
            </a:pPr>
            <a:r>
              <a:rPr sz="1500" b="1">
                <a:solidFill>
                  <a:srgbClr val="13A36F"/>
                </a:solidFill>
              </a:rPr>
              <a:t>83.3%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58067B-9E67-47EB-9BC7-6EC31B18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666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E03789-5662-48A4-8F11-D15D6BD16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9565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Decision tree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0F25A2-CEED-4586-8391-B9F046D25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2956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</a:defRPr>
            </a:pPr>
            <a:r>
              <a:rPr sz="1500" b="1">
                <a:solidFill>
                  <a:srgbClr val="3D8DFF"/>
                </a:solidFill>
              </a:rPr>
              <a:t>92.9%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88E9FB-9788-45E3-8394-A22F90597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956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3A36F"/>
                </a:solidFill>
              </a:defRPr>
            </a:pPr>
            <a:r>
              <a:rPr sz="1500" b="1">
                <a:solidFill>
                  <a:srgbClr val="13A36F"/>
                </a:solidFill>
              </a:rPr>
              <a:t>83.3%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72539E-59C2-43E0-9BD0-EF3E17935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862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K-nearest neighbors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97339F-9615-411C-802E-007C6F28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8862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</a:defRPr>
            </a:pPr>
            <a:r>
              <a:rPr sz="1500" b="1">
                <a:solidFill>
                  <a:srgbClr val="3D8DFF"/>
                </a:solidFill>
              </a:rPr>
              <a:t>84.8%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622B66-F99E-4944-B703-292988D7C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8862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3A36F"/>
                </a:solidFill>
              </a:defRPr>
            </a:pPr>
            <a:r>
              <a:rPr sz="1500" b="1">
                <a:solidFill>
                  <a:srgbClr val="13A36F"/>
                </a:solidFill>
              </a:rPr>
              <a:t>83.3%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b7ad0564c0433d"/>
          <a:stretch xmlns:a="http://schemas.openxmlformats.org/drawingml/2006/main"/>
        </p:blipFill>
        <p:spPr>
          <a:xfrm xmlns:a="http://schemas.openxmlformats.org/drawingml/2006/main">
            <a:off x="7667625" y="1630482"/>
            <a:ext cx="3524250" cy="3025535"/>
          </a:xfrm>
          <a:prstGeom xmlns:a="http://schemas.openxmlformats.org/drawingml/2006/main" prst="rect">
            <a:avLst/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DA8CBC-661D-4B2A-ADBF-FCDA137DF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Decision tree leads cross-validation, but identical test scores indicate that the 18-case test set is too small to establish a clear winner.</a:t>
            </a:r>
          </a:p>
        </p:txBody>
      </p:sp>
    </p:spTree>
    <p:extLst>
      <p:ext uri="{BB962C8B-B14F-4D97-AF65-F5344CB8AC3E}">
        <p14:creationId xmlns:p14="http://schemas.microsoft.com/office/powerpoint/2010/main" val="177670710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149933-D387-428F-B3AB-58CF51137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CONCLUSIONS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957F45-B2DF-4D56-9E53-1CA7FDC81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Landing success reflects operational maturity and mission context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0604BD-207E-4BDE-BEB6-276669E19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AF0B28-761F-4A25-8E33-C051C9A8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86DFB7-8223-404E-B74B-82E3DD2A5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5240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Performance improves over 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AEA42B-05C2-431D-A232-24C295BD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5240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0646C"/>
                </a:solidFill>
              </a:defRPr>
            </a:pPr>
            <a:r>
              <a:rPr sz="1500" b="0">
                <a:solidFill>
                  <a:srgbClr val="60646C"/>
                </a:solidFill>
              </a:rPr>
              <a:t>Later flights show stronger landing outcomes as operations mature.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740356-6FEA-4055-8E23-E7C4DDF4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3EF793-066E-4FFE-9F8E-1C64EB72F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908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Site and orbit matter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D8BC04-7849-4E09-A54A-1DCF74AC8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5908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0646C"/>
                </a:solidFill>
              </a:defRPr>
            </a:pPr>
            <a:r>
              <a:rPr sz="1500" b="0">
                <a:solidFill>
                  <a:srgbClr val="60646C"/>
                </a:solidFill>
              </a:rPr>
              <a:t>KSC leads successful launches; outcome rates differ across sites and orbit profiles.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9256F4-1AAE-4A8D-8BD1-379935CC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55E176-0D9D-45A2-98DC-B020052F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576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Reusable hardware features carry signal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149303-7572-49F4-B906-EF53A0D6E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6576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0646C"/>
                </a:solidFill>
              </a:defRPr>
            </a:pPr>
            <a:r>
              <a:rPr sz="1500" b="0">
                <a:solidFill>
                  <a:srgbClr val="60646C"/>
                </a:solidFill>
              </a:rPr>
              <a:t>Grid fins, legs, reuse history, block, orbit, and payload contribute to prediction.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3879F6-449E-4535-92E1-D2837B2C6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4E9B1-CACA-4358-B2A2-8F02536FE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7244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Models are useful but need broader validation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02A90A-329F-4097-BA2C-47EE67CD8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7244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0646C"/>
                </a:solidFill>
              </a:defRPr>
            </a:pPr>
            <a:r>
              <a:rPr sz="1500" b="0">
                <a:solidFill>
                  <a:srgbClr val="60646C"/>
                </a:solidFill>
              </a:rPr>
              <a:t>83.3% test accuracy is promising, though the test set contains only 18 launches.</a:t>
            </a:r>
          </a:p>
        </p:txBody>
      </p:sp>
    </p:spTree>
    <p:extLst>
      <p:ext uri="{BB962C8B-B14F-4D97-AF65-F5344CB8AC3E}">
        <p14:creationId xmlns:p14="http://schemas.microsoft.com/office/powerpoint/2010/main" val="70283296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C7DA93-B017-46D4-A49F-51DCD7620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PROJECT ASSETS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107869-FC08-4496-BBAA-DB470AC22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Submission package maps directly to the capstone rubric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6F3DAE-AF7A-4273-94A7-96A5BC239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A5DA9B-0B58-4BFD-B327-FE7659D34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Included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B70F71-EEAF-405E-96C1-F63E03475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4762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API collection notebook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Web scraping notebook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Data wrangling notebook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EDA visualization notebook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SQL notebook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Folium notebook + HTML map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Dash application + screenshots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Machine learning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CACC08-263B-44C1-8C3F-C1B86F221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24000"/>
            <a:ext cx="53911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5B0645-A56F-4CDE-B5E6-AED6733DA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857375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Public GitHub repository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716D14-39F4-4EB6-916F-02EADA285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381250"/>
            <a:ext cx="4381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All completed notebooks, dashboard code, screenshots, map, presentation, and report are available in the repository.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C8E96E-20BE-46BD-AB24-38E2B84F7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762375"/>
            <a:ext cx="447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</a:defRPr>
            </a:pPr>
            <a:r>
              <a:rPr sz="1125" b="1">
                <a:solidFill>
                  <a:srgbClr val="3D8DFF"/>
                </a:solidFill>
              </a:rPr>
              <a:t>https://github.com/TristinWen/spacex-falcon9-landing-prediction</a:t>
            </a:r>
          </a:p>
        </p:txBody>
      </p:sp>
    </p:spTree>
    <p:extLst>
      <p:ext uri="{BB962C8B-B14F-4D97-AF65-F5344CB8AC3E}">
        <p14:creationId xmlns:p14="http://schemas.microsoft.com/office/powerpoint/2010/main" val="4380625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2026-08-28T13:33:44.8280000Z</dcterms:created>
  <dcterms:modified xsi:type="dcterms:W3CDTF">2026-08-28T13:33:44.8280000Z</dcterms:modified>
</coreProperties>
</file>