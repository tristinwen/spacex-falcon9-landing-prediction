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c8edd8d93c4348" /><Relationship Type="http://schemas.openxmlformats.org/officeDocument/2006/relationships/extended-properties" Target="/docProps/app.xml" Id="R03b7b8e92cbb4ecb" /><Relationship Type="http://schemas.openxmlformats.org/officeDocument/2006/relationships/officeDocument" Target="/ppt/presentation.xml" Id="Re9ac4962613348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4123bd47424af9"/>
  </p:sldMasterIdLst>
  <p:notesMasterIdLst>
    <p:notesMasterId xmlns:r="http://schemas.openxmlformats.org/officeDocument/2006/relationships" r:id="Rb323ee6c4e7a41e3"/>
  </p:notesMasterIdLst>
  <p:sldIdLst>
    <p:sldId xmlns:r="http://schemas.openxmlformats.org/officeDocument/2006/relationships" id="256" r:id="R3534c1ba57ca4e7a"/>
    <p:sldId xmlns:r="http://schemas.openxmlformats.org/officeDocument/2006/relationships" id="257" r:id="Rf05bd059c55d45b5"/>
    <p:sldId xmlns:r="http://schemas.openxmlformats.org/officeDocument/2006/relationships" id="258" r:id="R6f5604421899461b"/>
    <p:sldId xmlns:r="http://schemas.openxmlformats.org/officeDocument/2006/relationships" id="259" r:id="R1249f21c0d2842b3"/>
    <p:sldId xmlns:r="http://schemas.openxmlformats.org/officeDocument/2006/relationships" id="260" r:id="Rd0221bfcf90a44d7"/>
    <p:sldId xmlns:r="http://schemas.openxmlformats.org/officeDocument/2006/relationships" id="261" r:id="R62b8ac79bff54e9e"/>
    <p:sldId xmlns:r="http://schemas.openxmlformats.org/officeDocument/2006/relationships" id="262" r:id="R74a44b1af7224d10"/>
    <p:sldId xmlns:r="http://schemas.openxmlformats.org/officeDocument/2006/relationships" id="263" r:id="R31ba9a4ffae54a33"/>
    <p:sldId xmlns:r="http://schemas.openxmlformats.org/officeDocument/2006/relationships" id="264" r:id="R0f272e56091748ee"/>
    <p:sldId xmlns:r="http://schemas.openxmlformats.org/officeDocument/2006/relationships" id="265" r:id="Rd87e995c396f43c9"/>
    <p:sldId xmlns:r="http://schemas.openxmlformats.org/officeDocument/2006/relationships" id="266" r:id="R8fcef267a00f439a"/>
    <p:sldId xmlns:r="http://schemas.openxmlformats.org/officeDocument/2006/relationships" id="267" r:id="Rde8d1b4c09184174"/>
    <p:sldId xmlns:r="http://schemas.openxmlformats.org/officeDocument/2006/relationships" id="268" r:id="R57259662e5c940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285031285c4cef" /><Relationship Type="http://schemas.openxmlformats.org/officeDocument/2006/relationships/slideMaster" Target="/ppt/slideMasters/slideMaster1.xml" Id="R134123bd47424af9" /><Relationship Type="http://schemas.openxmlformats.org/officeDocument/2006/relationships/notesMaster" Target="/ppt/notesMasters/notesMaster1.xml" Id="Rb323ee6c4e7a41e3" /><Relationship Type="http://schemas.openxmlformats.org/officeDocument/2006/relationships/presProps" Target="/ppt/presProps.xml" Id="R3e782d69ccd14529" /><Relationship Type="http://schemas.openxmlformats.org/officeDocument/2006/relationships/tableStyles" Target="/ppt/tableStyles.xml" Id="R543e3a76008649a3" /><Relationship Type="http://schemas.openxmlformats.org/officeDocument/2006/relationships/slide" Target="/ppt/slides/slide1.xml" Id="R3534c1ba57ca4e7a" /><Relationship Type="http://schemas.openxmlformats.org/officeDocument/2006/relationships/slide" Target="/ppt/slides/slide2.xml" Id="Rf05bd059c55d45b5" /><Relationship Type="http://schemas.openxmlformats.org/officeDocument/2006/relationships/slide" Target="/ppt/slides/slide3.xml" Id="R6f5604421899461b" /><Relationship Type="http://schemas.openxmlformats.org/officeDocument/2006/relationships/slide" Target="/ppt/slides/slide4.xml" Id="R1249f21c0d2842b3" /><Relationship Type="http://schemas.openxmlformats.org/officeDocument/2006/relationships/slide" Target="/ppt/slides/slide5.xml" Id="Rd0221bfcf90a44d7" /><Relationship Type="http://schemas.openxmlformats.org/officeDocument/2006/relationships/slide" Target="/ppt/slides/slide6.xml" Id="R62b8ac79bff54e9e" /><Relationship Type="http://schemas.openxmlformats.org/officeDocument/2006/relationships/slide" Target="/ppt/slides/slide7.xml" Id="R74a44b1af7224d10" /><Relationship Type="http://schemas.openxmlformats.org/officeDocument/2006/relationships/slide" Target="/ppt/slides/slide8.xml" Id="R31ba9a4ffae54a33" /><Relationship Type="http://schemas.openxmlformats.org/officeDocument/2006/relationships/slide" Target="/ppt/slides/slide9.xml" Id="R0f272e56091748ee" /><Relationship Type="http://schemas.openxmlformats.org/officeDocument/2006/relationships/slide" Target="/ppt/slides/slide10.xml" Id="Rd87e995c396f43c9" /><Relationship Type="http://schemas.openxmlformats.org/officeDocument/2006/relationships/slide" Target="/ppt/slides/slide11.xml" Id="R8fcef267a00f439a" /><Relationship Type="http://schemas.openxmlformats.org/officeDocument/2006/relationships/slide" Target="/ppt/slides/slide12.xml" Id="Rde8d1b4c09184174" /><Relationship Type="http://schemas.openxmlformats.org/officeDocument/2006/relationships/slide" Target="/ppt/slides/slide13.xml" Id="R57259662e5c940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92772f079e4c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63c5ab789c48ee" /><Relationship Type="http://schemas.openxmlformats.org/officeDocument/2006/relationships/notesMaster" Target="/ppt/notesMasters/notesMaster1.xml" Id="R8e88770fdb5f4b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123cc06e6b4d53" /><Relationship Type="http://schemas.openxmlformats.org/officeDocument/2006/relationships/notesMaster" Target="/ppt/notesMasters/notesMaster1.xml" Id="R74ad9a2ca79844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dc221318ec4699" /><Relationship Type="http://schemas.openxmlformats.org/officeDocument/2006/relationships/notesMaster" Target="/ppt/notesMasters/notesMaster1.xml" Id="Rf3d2bf95b5e04c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e7a90546144f37" /><Relationship Type="http://schemas.openxmlformats.org/officeDocument/2006/relationships/notesMaster" Target="/ppt/notesMasters/notesMaster1.xml" Id="R9b0b1508f27f4c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b2e10ed97541f2" /><Relationship Type="http://schemas.openxmlformats.org/officeDocument/2006/relationships/notesMaster" Target="/ppt/notesMasters/notesMaster1.xml" Id="Rccca4b30588945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2ee918de2d4353" /><Relationship Type="http://schemas.openxmlformats.org/officeDocument/2006/relationships/notesMaster" Target="/ppt/notesMasters/notesMaster1.xml" Id="Ra1eac5737b164b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1f6bb8f68f41f1" /><Relationship Type="http://schemas.openxmlformats.org/officeDocument/2006/relationships/notesMaster" Target="/ppt/notesMasters/notesMaster1.xml" Id="Re420c5c31f9c48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819774459342d5" /><Relationship Type="http://schemas.openxmlformats.org/officeDocument/2006/relationships/notesMaster" Target="/ppt/notesMasters/notesMaster1.xml" Id="Ra6c3ce47f8a044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638b2076994854" /><Relationship Type="http://schemas.openxmlformats.org/officeDocument/2006/relationships/notesMaster" Target="/ppt/notesMasters/notesMaster1.xml" Id="Re8d1218812ef4e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1e89360db84851" /><Relationship Type="http://schemas.openxmlformats.org/officeDocument/2006/relationships/notesMaster" Target="/ppt/notesMasters/notesMaster1.xml" Id="R39075f36491344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cbb378804449e9" /><Relationship Type="http://schemas.openxmlformats.org/officeDocument/2006/relationships/notesMaster" Target="/ppt/notesMasters/notesMaster1.xml" Id="R887cfd9786414a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5ec21ff4ec4a5d" /><Relationship Type="http://schemas.openxmlformats.org/officeDocument/2006/relationships/notesMaster" Target="/ppt/notesMasters/notesMaster1.xml" Id="R91cfa548a9e541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250092af8f84e44" /><Relationship Type="http://schemas.openxmlformats.org/officeDocument/2006/relationships/notesMaster" Target="/ppt/notesMasters/notesMaster1.xml" Id="R9bc8f0a1806447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completed notebooks in C:/Users/Administrator/Downloads/completed/ipynb.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 Wrangling notebook: class mean 0.8777778.</a:t>
            </a:r>
          </a:p>
          <a:p xmlns:a="http://schemas.openxmlformats.org/drawingml/2006/main">
            <a:r>
              <a:t>- Machine Learning notebook: model_scores output.</a:t>
            </a:r>
          </a:p>
          <a:p xmlns:a="http://schemas.openxmlformats.org/drawingml/2006/main">
            <a:r>
              <a:t>- Dash screenshot: All Sites success share.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Completed notebooks and spacex-dash-app.py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API collection notebook outputs.</a:t>
            </a:r>
          </a:p>
          <a:p xmlns:a="http://schemas.openxmlformats.org/drawingml/2006/main">
            <a:r>
              <a:t>- Web scraping notebook: parsed DataFrame with 121 rows.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 Wrangling notebook Tasks 1-4.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EDA visualization notebook cells 32 and 46.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SQL notebook Tasks 3-10.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Folium notebook and spacex_launch_site_proximity_map.html supplied by the user.</a:t>
            </a:r>
          </a:p>
          <a:p xmlns:a="http://schemas.openxmlformats.org/drawingml/2006/main">
            <a:r>
              <a:t>- OpenStreetMap tiles rendered from the interactive 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spacex-dash-app_1.png.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spacex-dash-app_2.png.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Machine Learning notebook model_scores output and decision-tree confusion matrix.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Synthesis of user-provided EDA, dashboard, SQL, Folium, and ML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assets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c8e6989cd441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3aea41b2a54155" /><Relationship Type="http://schemas.openxmlformats.org/officeDocument/2006/relationships/slideLayout" Target="/ppt/slideLayouts/slideLayout1.xml" Id="R4d5ccff9adad4b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5ccff9adad4b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61c05dd0749ec" /><Relationship Type="http://schemas.openxmlformats.org/officeDocument/2006/relationships/notesSlide" Target="/ppt/notesSlides/notesSlide1.xml" Id="R05f63d82cd2a44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9b3a936b74b2f" /><Relationship Type="http://schemas.openxmlformats.org/officeDocument/2006/relationships/notesSlide" Target="/ppt/notesSlides/notesSlide2.xml" Id="R7164dcfa93dc45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ef7689c6e4b22" /><Relationship Type="http://schemas.openxmlformats.org/officeDocument/2006/relationships/notesSlide" Target="/ppt/notesSlides/notesSlide3.xml" Id="R8c8acbcf45b647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f22bafa2548ab" /><Relationship Type="http://schemas.openxmlformats.org/officeDocument/2006/relationships/notesSlide" Target="/ppt/notesSlides/notesSlide4.xml" Id="R94975356704944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42882f6814597" /><Relationship Type="http://schemas.openxmlformats.org/officeDocument/2006/relationships/notesSlide" Target="/ppt/notesSlides/notesSlide5.xml" Id="R0469ca1d22c84d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801709b83461d" /><Relationship Type="http://schemas.openxmlformats.org/officeDocument/2006/relationships/image" Target="/ppt/media/image.png" Id="Rd6401b68a6e94773" /><Relationship Type="http://schemas.openxmlformats.org/officeDocument/2006/relationships/image" Target="/ppt/media/image2.png" Id="R25de5b33d2a949fb" /><Relationship Type="http://schemas.openxmlformats.org/officeDocument/2006/relationships/notesSlide" Target="/ppt/notesSlides/notesSlide6.xml" Id="Ra0cbfa4c61c64e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db9b2f0434e72" /><Relationship Type="http://schemas.openxmlformats.org/officeDocument/2006/relationships/notesSlide" Target="/ppt/notesSlides/notesSlide7.xml" Id="R01c88d42761a4d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f761ac69d4dd4" /><Relationship Type="http://schemas.openxmlformats.org/officeDocument/2006/relationships/image" Target="/ppt/media/image3.png" Id="Ra91bd0c00cec4c1f" /><Relationship Type="http://schemas.openxmlformats.org/officeDocument/2006/relationships/notesSlide" Target="/ppt/notesSlides/notesSlide8.xml" Id="R7160b367652548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494f07a664a30" /><Relationship Type="http://schemas.openxmlformats.org/officeDocument/2006/relationships/image" Target="/ppt/media/image4.png" Id="Rf433121f516340bc" /><Relationship Type="http://schemas.openxmlformats.org/officeDocument/2006/relationships/notesSlide" Target="/ppt/notesSlides/notesSlide9.xml" Id="Rc91c35ff06a04c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ff5957659448c" /><Relationship Type="http://schemas.openxmlformats.org/officeDocument/2006/relationships/image" Target="/ppt/media/image5.png" Id="R875b826cd3e04269" /><Relationship Type="http://schemas.openxmlformats.org/officeDocument/2006/relationships/notesSlide" Target="/ppt/notesSlides/notesSlide10.xml" Id="Rf6b2cc6d4ccf4f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3e9764c6848fc" /><Relationship Type="http://schemas.openxmlformats.org/officeDocument/2006/relationships/image" Target="/ppt/media/image6.png" Id="R6d36178579b34d47" /><Relationship Type="http://schemas.openxmlformats.org/officeDocument/2006/relationships/notesSlide" Target="/ppt/notesSlides/notesSlide11.xml" Id="R095df1f0fc2e4a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b92c22e924e15" /><Relationship Type="http://schemas.openxmlformats.org/officeDocument/2006/relationships/notesSlide" Target="/ppt/notesSlides/notesSlide12.xml" Id="Rc1022efaeb414f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5e954c776409e" /><Relationship Type="http://schemas.openxmlformats.org/officeDocument/2006/relationships/notesSlide" Target="/ppt/notesSlides/notesSlide13.xml" Id="R34de29424f384b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31EA6-BC1C-4579-9E39-618C9D97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0DC92-B292-487D-826B-AF64E069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8096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SpaceX Falcon 9</a:t>
            </a:r>
          </a:p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First-Stage Landing 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ECB7A-7ACE-4FA3-A5AB-62BF214C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646C"/>
                </a:solidFill>
              </a:defRPr>
            </a:pPr>
            <a:r>
              <a:rPr sz="1950" b="0">
                <a:solidFill>
                  <a:srgbClr val="60646C"/>
                </a:solidFill>
              </a:rPr>
              <a:t>IBM Data Science Capstone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B9E27-C1A8-4ABE-A929-A50D89DB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Final presentation | Data collection, analysis, interactive visualization, and machine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7E6B8-53BA-4F3F-810B-334A4AE0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Dataset period: 2010-2020</a:t>
            </a:r>
          </a:p>
        </p:txBody>
      </p:sp>
    </p:spTree>
    <p:extLst>
      <p:ext uri="{BB962C8B-B14F-4D97-AF65-F5344CB8AC3E}">
        <p14:creationId xmlns:p14="http://schemas.microsoft.com/office/powerpoint/2010/main" val="1996365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5ACF11-3FFF-415B-8595-148C6D19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ACCBB-8935-4174-A62E-46882FF2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The analysis identifies where and when Falcon 9 landings succeed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D48F0-0ADE-43B6-87FB-04A4E48E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256F3-30F9-45E5-9689-72245C9D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A reusable first stage lowers launch cost, so predicting landing success supports competitive bid estimates.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C66BD-4F0E-484D-99BE-4924F06A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</a:defRPr>
            </a:pPr>
            <a:r>
              <a:rPr sz="4050" b="1">
                <a:solidFill>
                  <a:srgbClr val="3D8DFF"/>
                </a:solidFill>
              </a:rPr>
              <a:t>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F7717-DB4C-4B0C-AA70-734C15EE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46C"/>
                </a:solidFill>
              </a:defRPr>
            </a:pPr>
            <a:r>
              <a:rPr sz="1350" b="0">
                <a:solidFill>
                  <a:srgbClr val="60646C"/>
                </a:solidFill>
              </a:rPr>
              <a:t>Falcon 9 launches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A38F1-F2B1-47D8-8CEA-48C8E59C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336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3A36F"/>
                </a:solidFill>
              </a:defRPr>
            </a:pPr>
            <a:r>
              <a:rPr sz="4050" b="1">
                <a:solidFill>
                  <a:srgbClr val="13A36F"/>
                </a:solidFill>
              </a:rPr>
              <a:t>87.8%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08977-448E-4103-94A1-530AE698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46C"/>
                </a:solidFill>
              </a:defRPr>
            </a:pPr>
            <a:r>
              <a:rPr sz="1350" b="0">
                <a:solidFill>
                  <a:srgbClr val="60646C"/>
                </a:solidFill>
              </a:rPr>
              <a:t>successful landings in prepared labels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72E86-CC67-46AC-AD04-EAB3325B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</a:defRPr>
            </a:pPr>
            <a:r>
              <a:rPr sz="4050" b="1">
                <a:solidFill>
                  <a:srgbClr val="3D8DFF"/>
                </a:solidFill>
              </a:rPr>
              <a:t>83.3%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349EB-6326-4A81-A329-B9B2F956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289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46C"/>
                </a:solidFill>
              </a:defRPr>
            </a:pPr>
            <a:r>
              <a:rPr sz="1350" b="0">
                <a:solidFill>
                  <a:srgbClr val="60646C"/>
                </a:solidFill>
              </a:rPr>
              <a:t>test accuracy across four models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453DA-B9E7-4133-9926-FB4DC3DC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336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5533D"/>
                </a:solidFill>
              </a:defRPr>
            </a:pPr>
            <a:r>
              <a:rPr sz="4050" b="1">
                <a:solidFill>
                  <a:srgbClr val="E5533D"/>
                </a:solidFill>
              </a:rPr>
              <a:t>41.7%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D9F37-00C0-4261-AC7E-8179B9F1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289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46C"/>
                </a:solidFill>
              </a:defRPr>
            </a:pPr>
            <a:r>
              <a:rPr sz="1350" b="0">
                <a:solidFill>
                  <a:srgbClr val="60646C"/>
                </a:solidFill>
              </a:rPr>
              <a:t>share of all successful launches at KSC LC-39A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989CA7-81FA-4AFF-8383-23D47EFA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Key implication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FDF24-2ADB-4E14-A257-88C9FDAF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Operational history and launch context provide useful predictive signal, while launch site, orbit, payload, and booster configuration explain meaningful differences in outcomes.</a:t>
            </a:r>
          </a:p>
        </p:txBody>
      </p:sp>
    </p:spTree>
    <p:extLst>
      <p:ext uri="{BB962C8B-B14F-4D97-AF65-F5344CB8AC3E}">
        <p14:creationId xmlns:p14="http://schemas.microsoft.com/office/powerpoint/2010/main" val="2945398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C22A33-50DE-4F69-A7B6-6A1FA566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0ADC9-7016-4BEC-9CFF-3BB3D012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The project combines seven analytical stages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640A4-0575-4AD1-955B-19D78FC5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E1984-B8B9-41F1-A4C8-927454B5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352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E0FD5-2FA8-4A88-9318-5A69D2DC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808A2-D767-486F-A32B-9FA0D3AE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API collection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E86CD-9EA8-409E-B91F-FC14056C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6479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BCC4"/>
                </a:solidFill>
              </a:defRPr>
            </a:pPr>
            <a:r>
              <a:rPr sz="1800" b="1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2B41F-76A6-4C88-9A53-2F5FE365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38375"/>
            <a:ext cx="1352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12AE2-0AB3-442D-A8EF-254029BC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62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33EBB-A6DC-4988-B9B3-8F09F859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8605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Web scraping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2DF46-DB71-40C9-B566-DA516DB4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6479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BCC4"/>
                </a:solidFill>
              </a:defRPr>
            </a:pPr>
            <a:r>
              <a:rPr sz="1800" b="1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E0828-E7EC-44C7-A00B-E9724A38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38375"/>
            <a:ext cx="1352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DBEDC3-B703-4254-A548-61270C4D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62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D614AD-19E6-4518-8049-C16C53B6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8605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Wrangling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C5F49A-CF09-40C6-A80B-CD1A143A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479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BCC4"/>
                </a:solidFill>
              </a:defRPr>
            </a:pPr>
            <a:r>
              <a:rPr sz="1800" b="1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C70A4-1BF9-4672-ADAF-D1B20DA7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38375"/>
            <a:ext cx="1352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D95751-27ED-424E-8429-02BD12D4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62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31449F-8056-4EE5-ADAB-6293F110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8605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EDA + 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6FB41A-93AB-44E1-AFB1-9AADD980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6479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BCC4"/>
                </a:solidFill>
              </a:defRPr>
            </a:pPr>
            <a:r>
              <a:rPr sz="1800" b="1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476743-BFBE-4FDC-AAC8-D45BAC58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38375"/>
            <a:ext cx="1352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41F688-7A72-45BB-AF82-7536E32A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62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56B733-9E6C-4788-8654-A649190B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8605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Folium + Dash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22CC93-C0EC-410E-8D6F-3D280E9E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6479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BCC4"/>
                </a:solidFill>
              </a:defRPr>
            </a:pPr>
            <a:r>
              <a:rPr sz="1800" b="1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C94991-FC5F-4E2D-BAD4-62C4F51A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38375"/>
            <a:ext cx="1352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573DF7-95C2-40A1-8FD7-221DF607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62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A8FDF3-3A16-4B40-9A5B-BDD5FDF0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Feature engineering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83794A-E4EF-48D5-88D3-B0391590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6479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BCC4"/>
                </a:solidFill>
              </a:defRPr>
            </a:pPr>
            <a:r>
              <a:rPr sz="1800" b="1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FA0CB3-81AA-414E-B03B-9CECE298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38375"/>
            <a:ext cx="1352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CDE364-B94F-4F98-AC2E-9607C53B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62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8CF209-3F01-480E-85E2-B63EEA5B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8605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Model selection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A28D9B-88EA-4FB3-82FF-F66FAA97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46C"/>
                </a:solidFill>
              </a:defRPr>
            </a:pPr>
            <a:r>
              <a:rPr sz="1800" b="0">
                <a:solidFill>
                  <a:srgbClr val="60646C"/>
                </a:solidFill>
              </a:rPr>
              <a:t>Evidence was retained in executed notebooks, dashboard screenshots, and an interactive Folium HTML map.</a:t>
            </a:r>
          </a:p>
        </p:txBody>
      </p:sp>
    </p:spTree>
    <p:extLst>
      <p:ext uri="{BB962C8B-B14F-4D97-AF65-F5344CB8AC3E}">
        <p14:creationId xmlns:p14="http://schemas.microsoft.com/office/powerpoint/2010/main" val="12714443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EFE55A-E139-4988-8F4C-A7B8B012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DATA COLLECTION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B0C8C-8A04-42F7-818D-01148571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Two collection paths build the launch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41554-20D7-4F92-A30E-67FEBBFF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EA947-35D8-4A92-A035-7977B582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9530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4958B-5DA1-4FE2-96EF-39BACF97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SpaceX REST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8AAF2-30BB-4395-9579-88EFF96E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095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Past-launch JSON normalized into a DataFrame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Rocket, payload, core, and launchpad identifiers enriched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Final Falcon 9 table contains 90 launches and 17 fields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B2F9E-E83A-4D19-BD31-4445450C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558165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6B8C1-7826-4CA6-89A0-9F54DD0A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Wikipedia web scraping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D4EE6-A94E-4588-8304-652DFE2F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76500"/>
            <a:ext cx="4667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BeautifulSoup parses historical launch tables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121 launch rows extracted from the June 2021 snapshot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Fields include booster, payload, orbit, customer, outcome, and landing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FEB90-8162-44C3-9F5C-8BC94951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14875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Both paths provide complementary operational and mission context.</a:t>
            </a:r>
          </a:p>
        </p:txBody>
      </p:sp>
    </p:spTree>
    <p:extLst>
      <p:ext uri="{BB962C8B-B14F-4D97-AF65-F5344CB8AC3E}">
        <p14:creationId xmlns:p14="http://schemas.microsoft.com/office/powerpoint/2010/main" val="18013804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C5AD34-6E37-4391-8A3D-30E42572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WRANGLING + EDA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9E222-F643-4306-B595-C50C3772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Launch activity concentrates at three sites and a few orbit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1FA06-6B5E-4CCD-929F-97170EDA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B647B-BDA1-42D3-9768-3160D9B9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Launches by site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4F781-7B33-4149-B2FF-27F6F919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CCAFS SLC 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C4BB3-B1FC-4CEC-880B-DD626C25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95500"/>
            <a:ext cx="3667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57856-738E-458B-8DA4-ADB42AF6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55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92676-3007-45CE-A487-123CE713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KSC LC 39A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37756-2395-481A-9808-B2D30C78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622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DB74B-103D-4B07-9F03-E83A05ED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A09B5E-EA4C-4DB2-B12A-281A9C5F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VAFB SLC 4E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B6003-6BF0-4737-BFCC-C19A3856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29000"/>
            <a:ext cx="8667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1D38C-B1E3-4B80-8D2C-81556D79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13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F752D8-F0BD-4CA6-AF34-A3D3EF9B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716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Most common orbits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F0ECF7-C895-48B6-BB24-5E94BE61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GTO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34BF4-325B-41B7-B148-58EFC3C5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314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933AB9-B76E-42AD-8419-E3E1299C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095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27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445D82-BEFE-429B-929A-B56EE792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ISS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BEF9A6-8BFF-4AFF-8CB0-30A9988A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86050"/>
            <a:ext cx="1800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122741-70C1-4812-8829-93D73BBA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21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29DCB5-A69E-4710-A316-7425EB3D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766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VLEO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A73104-1609-42E6-8301-666A97F6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766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2A75AC-F3C5-4CBC-AFFB-2567C8EE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76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14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198AE1-9452-4BC1-8558-AFFEFB08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67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584321-D060-451C-8568-FAC781C6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67150"/>
            <a:ext cx="771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783555-3333-4E40-939B-36A4FC4A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867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A025EB-ECE5-4F3A-9517-A6A9DF35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Landing outcomes were converted to a binary Class label; the resulting success share is 87.8%.</a:t>
            </a:r>
          </a:p>
        </p:txBody>
      </p:sp>
    </p:spTree>
    <p:extLst>
      <p:ext uri="{BB962C8B-B14F-4D97-AF65-F5344CB8AC3E}">
        <p14:creationId xmlns:p14="http://schemas.microsoft.com/office/powerpoint/2010/main" val="15800273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B1F99-7CA9-424C-B6DA-5E13BCCF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EXPLORATORY DATA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9E2EA-D5A8-49B5-AD0E-3927BD6E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Success improves over time and varies by orbit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E25B5-DD7C-4C10-A43D-A98A82CA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01b68a6e94773"/>
          <a:stretch xmlns:a="http://schemas.openxmlformats.org/drawingml/2006/main"/>
        </p:blipFill>
        <p:spPr>
          <a:xfrm xmlns:a="http://schemas.openxmlformats.org/drawingml/2006/main">
            <a:off x="609600" y="1767614"/>
            <a:ext cx="5286375" cy="3418023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de5b33d2a949fb"/>
          <a:stretch xmlns:a="http://schemas.openxmlformats.org/drawingml/2006/main"/>
        </p:blipFill>
        <p:spPr>
          <a:xfrm xmlns:a="http://schemas.openxmlformats.org/drawingml/2006/main">
            <a:off x="6571655" y="1476375"/>
            <a:ext cx="4725591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854BF-92C8-42FE-A9FC-1BFA60B1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528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36F"/>
                </a:solidFill>
              </a:defRPr>
            </a:pPr>
            <a:r>
              <a:rPr sz="1425" b="1">
                <a:solidFill>
                  <a:srgbClr val="13A36F"/>
                </a:solidFill>
              </a:rPr>
              <a:t>The yearly trend rises as Falcon 9 operations mature.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19E1C-58ED-44B6-928A-51C62DF8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19750"/>
            <a:ext cx="529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Orbit choice separates high- and low-success mission profiles.</a:t>
            </a:r>
          </a:p>
        </p:txBody>
      </p:sp>
    </p:spTree>
    <p:extLst>
      <p:ext uri="{BB962C8B-B14F-4D97-AF65-F5344CB8AC3E}">
        <p14:creationId xmlns:p14="http://schemas.microsoft.com/office/powerpoint/2010/main" val="8693642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F804A7-C782-4F92-A720-CC97C0CD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SQL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A71FD-AF26-43E8-9B75-AD198A25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SQL confirms operational milestones and payload patterns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30B5C-CEBB-42DD-97EB-E67DB71B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EE5E8-990F-4E62-9E84-790C5F55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AAD2D-641A-4060-8B8D-AAB696D3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NASA CRS payload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176ED-E9DE-4B3B-B373-99A1CBB2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45,596 kg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01097-5C7C-4DE2-B54E-61813A62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Avg. F9 v1.1 payload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D2669-0A4B-474D-B2D6-B9C6DF85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19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2,928.4 kg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69714-8ADD-4F13-B9AB-DB63AFCB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F0309-BFA5-4A54-927A-E8D59F4C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First ground-pad success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638C1-FEC0-42F1-BBF1-0AA51B7F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22 Dec 2015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78CB5-4C5C-4EF5-BBFC-2E13B201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Successful missions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0DDE1-4F2D-4A14-BD4B-38271622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52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100*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7CEE0A-5C66-4B06-BFA5-98D57C75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F63BF6-6168-4CC0-A478-7528429F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Drone-ship successes, 2010-2017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9C1444-11A2-4D5D-827A-1B34FBF0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19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0B003B-9EAF-40A9-A60A-4673E463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46C"/>
                </a:solidFill>
              </a:defRPr>
            </a:pPr>
            <a:r>
              <a:rPr sz="1200" b="0">
                <a:solidFill>
                  <a:srgbClr val="60646C"/>
                </a:solidFill>
              </a:rPr>
              <a:t>*SQL source records include “Success” and “Success ” as separate text values.</a:t>
            </a:r>
          </a:p>
        </p:txBody>
      </p:sp>
    </p:spTree>
    <p:extLst>
      <p:ext uri="{BB962C8B-B14F-4D97-AF65-F5344CB8AC3E}">
        <p14:creationId xmlns:p14="http://schemas.microsoft.com/office/powerpoint/2010/main" val="10224795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5319D-A366-4187-981C-7EAD6BDE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FOLIUM GEOSPATIAL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D3505-2B8B-4566-8BE4-7E5CF95F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Launch sites cluster on coastlines with transport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994CB-0E10-4A29-9526-025DDA5F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1bd0c00cec4c1f"/>
          <a:srcRect xmlns:a="http://schemas.openxmlformats.org/drawingml/2006/main" l="0" t="877" r="0" b="8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28750"/>
            <a:ext cx="7239000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4C37F-2023-4046-A419-8835B6FB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14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Geographic findings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9FDCC-CF25-4026-B36D-89C06507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38375"/>
            <a:ext cx="2952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Sites are near coastlines, limiting risk over populated areas.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Florida sites cluster around Cape Canaveral and Kennedy Space Center.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The interactive map marks launch outcomes and distances to coast, city, railway, and highway.</a:t>
            </a:r>
          </a:p>
        </p:txBody>
      </p:sp>
    </p:spTree>
    <p:extLst>
      <p:ext uri="{BB962C8B-B14F-4D97-AF65-F5344CB8AC3E}">
        <p14:creationId xmlns:p14="http://schemas.microsoft.com/office/powerpoint/2010/main" val="3443789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DEF5C-9D5F-4CCE-87B6-5A114E4F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PLOTLY DASH: ALL SITES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2D2F2-33EB-4888-8677-E0FF1FAD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KSC LC-39A contributes the largest share of successful launches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7D96F-D1B1-40F2-802A-4BB4F9AC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3121f516340bc"/>
          <a:stretch xmlns:a="http://schemas.openxmlformats.org/drawingml/2006/main"/>
        </p:blipFill>
        <p:spPr>
          <a:xfrm xmlns:a="http://schemas.openxmlformats.org/drawingml/2006/main">
            <a:off x="2347456" y="1381125"/>
            <a:ext cx="3953787" cy="4810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9F14A-840B-4F82-B60A-D6E97115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002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3D8DFF"/>
                </a:solidFill>
              </a:defRPr>
            </a:pPr>
            <a:r>
              <a:rPr sz="3900" b="1">
                <a:solidFill>
                  <a:srgbClr val="3D8DFF"/>
                </a:solidFill>
              </a:rPr>
              <a:t>41.7%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7B018-725F-4D68-BBF9-E507FCF3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257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of all successful launches occurred at KSC LC-39A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7E87E-F083-4153-BDB3-BB9CC93B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957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46C"/>
                </a:solidFill>
              </a:defRPr>
            </a:pPr>
            <a:r>
              <a:rPr sz="1500" b="0">
                <a:solidFill>
                  <a:srgbClr val="60646C"/>
                </a:solidFill>
              </a:rPr>
              <a:t>The payload scatter also shows outcome differences across booster versions.</a:t>
            </a:r>
          </a:p>
        </p:txBody>
      </p:sp>
    </p:spTree>
    <p:extLst>
      <p:ext uri="{BB962C8B-B14F-4D97-AF65-F5344CB8AC3E}">
        <p14:creationId xmlns:p14="http://schemas.microsoft.com/office/powerpoint/2010/main" val="8488282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EEAC7-7504-488E-8F20-FFD589D8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PLOTLY DASH: SITE FILTER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0610B-399E-4B55-B3A6-31FEC5E9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CCAFS LC-40 records a 26.9% success 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9D7D9-79FA-4C6D-93E3-B7C88230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b826cd3e04269"/>
          <a:stretch xmlns:a="http://schemas.openxmlformats.org/drawingml/2006/main"/>
        </p:blipFill>
        <p:spPr>
          <a:xfrm xmlns:a="http://schemas.openxmlformats.org/drawingml/2006/main">
            <a:off x="2339327" y="1381125"/>
            <a:ext cx="3970047" cy="4810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F0361-DE2D-47B8-B8B1-C8D6D676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002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E5533D"/>
                </a:solidFill>
              </a:defRPr>
            </a:pPr>
            <a:r>
              <a:rPr sz="3900" b="1">
                <a:solidFill>
                  <a:srgbClr val="E5533D"/>
                </a:solidFill>
              </a:rPr>
              <a:t>26.9%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A66B3-855F-446F-8854-E26C5D92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successful launches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67D81-D5D0-47F0-BCD5-9E6BCD74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86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73.1% failed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8BD46-8F3E-4E4B-9E17-F9D68DC0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9575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46C"/>
                </a:solidFill>
              </a:defRPr>
            </a:pPr>
            <a:r>
              <a:rPr sz="1500" b="0">
                <a:solidFill>
                  <a:srgbClr val="60646C"/>
                </a:solidFill>
              </a:rPr>
              <a:t>Filtering by site changes both the outcome pie and payload scatter, demonstrating the dashboard’s interactivity.</a:t>
            </a:r>
          </a:p>
        </p:txBody>
      </p:sp>
    </p:spTree>
    <p:extLst>
      <p:ext uri="{BB962C8B-B14F-4D97-AF65-F5344CB8AC3E}">
        <p14:creationId xmlns:p14="http://schemas.microsoft.com/office/powerpoint/2010/main" val="8639032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29D6D4-A622-461A-8581-0D6CF8C1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PREDICTIVE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7525C-8795-48C2-9A5B-03AA9AA6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All four classifiers reach 83.3% test accuracy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87D31-DEF9-44F6-9E93-486BB92F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D7705-D2CA-4B5A-A796-9691E30F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0EA4C-5759-4945-B293-6D8A3249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19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CV 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0478D-37C5-4DD6-9BA1-C18ADAB1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19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Test 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2D0F6-DBF2-4A20-8581-2ADCE293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66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75D21-B8DE-4647-A40A-D38B4A83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Logistic regression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4260F-FD39-4459-A2F4-020B3956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14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84.6%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F2E01-3654-4B5A-B1BE-2B3D6B24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14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36F"/>
                </a:solidFill>
              </a:defRPr>
            </a:pPr>
            <a:r>
              <a:rPr sz="1500" b="1">
                <a:solidFill>
                  <a:srgbClr val="13A36F"/>
                </a:solidFill>
              </a:rPr>
              <a:t>83.3%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AF8F4-116B-4E0B-82EB-BF3A084D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Support vector machine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F5527E-EB14-4157-8C65-525FA511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051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84.8%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065AB-56C5-410D-A4A9-57229439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051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36F"/>
                </a:solidFill>
              </a:defRPr>
            </a:pPr>
            <a:r>
              <a:rPr sz="1500" b="1">
                <a:solidFill>
                  <a:srgbClr val="13A36F"/>
                </a:solidFill>
              </a:rPr>
              <a:t>83.3%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B67BF-1571-4A81-BF2A-ABE9363A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666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C5974E-5170-43A7-8AD2-9308DE8A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Decision tree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D49FB9-89F2-4D3F-B255-A3F81C44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95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92.9%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03377-EB64-4F25-936E-DB42270E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95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36F"/>
                </a:solidFill>
              </a:defRPr>
            </a:pPr>
            <a:r>
              <a:rPr sz="1500" b="1">
                <a:solidFill>
                  <a:srgbClr val="13A36F"/>
                </a:solidFill>
              </a:rPr>
              <a:t>83.3%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ADE2BD-2505-4843-B518-9BD37EA7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K-nearest neighbors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F9736D-2A9E-418B-A3CD-BE08AE5E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862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84.8%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A9D41F-4685-4C7B-B39C-DE666436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862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36F"/>
                </a:solidFill>
              </a:defRPr>
            </a:pPr>
            <a:r>
              <a:rPr sz="1500" b="1">
                <a:solidFill>
                  <a:srgbClr val="13A36F"/>
                </a:solidFill>
              </a:rPr>
              <a:t>83.3%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6178579b34d47"/>
          <a:stretch xmlns:a="http://schemas.openxmlformats.org/drawingml/2006/main"/>
        </p:blipFill>
        <p:spPr>
          <a:xfrm xmlns:a="http://schemas.openxmlformats.org/drawingml/2006/main">
            <a:off x="7667625" y="1630482"/>
            <a:ext cx="3524250" cy="302553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9E840-3A5A-4D47-B0E0-DC932FB7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Decision tree leads cross-validation, but identical test scores indicate that the 18-case test set is too small to establish a clear winner.</a:t>
            </a:r>
          </a:p>
        </p:txBody>
      </p:sp>
    </p:spTree>
    <p:extLst>
      <p:ext uri="{BB962C8B-B14F-4D97-AF65-F5344CB8AC3E}">
        <p14:creationId xmlns:p14="http://schemas.microsoft.com/office/powerpoint/2010/main" val="13659032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38E86C-3690-4BEB-95EB-57FB4C96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CONCLUSIONS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A289E-B78E-4770-B61D-176E912B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Landing success reflects operational maturity and mission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2CD07-24B1-491E-80E6-9344EC22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E6E77-DF8B-4B5A-AA97-F3869761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30673-C2DE-4837-A8AD-3500DB46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524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Performance improves over 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0CA72-A853-4B35-92A2-7171B186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240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46C"/>
                </a:solidFill>
              </a:defRPr>
            </a:pPr>
            <a:r>
              <a:rPr sz="1500" b="0">
                <a:solidFill>
                  <a:srgbClr val="60646C"/>
                </a:solidFill>
              </a:rPr>
              <a:t>Later flights show stronger landing outcomes as operations mature.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7944F-A9FB-4D36-8D61-93FEAD1D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626BD-FA3E-4703-A6B2-64B2BF8B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908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Site and orbit matter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0B22C-CB3E-407D-86A2-32608601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908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46C"/>
                </a:solidFill>
              </a:defRPr>
            </a:pPr>
            <a:r>
              <a:rPr sz="1500" b="0">
                <a:solidFill>
                  <a:srgbClr val="60646C"/>
                </a:solidFill>
              </a:rPr>
              <a:t>KSC leads successful launches; outcome rates differ across sites and orbit profiles.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2DB48-1E26-4669-B086-8B9A7DAC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7CDE9-55E2-46D4-97BC-72D6ABD6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576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Reusable hardware features carry 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E08990-9A12-4942-B8DA-CF94BE02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576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46C"/>
                </a:solidFill>
              </a:defRPr>
            </a:pPr>
            <a:r>
              <a:rPr sz="1500" b="0">
                <a:solidFill>
                  <a:srgbClr val="60646C"/>
                </a:solidFill>
              </a:rPr>
              <a:t>Grid fins, legs, reuse history, block, orbit, and payload contribute to prediction.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C06CC-3C7F-4025-91A2-44448E9F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7C7D13-74E8-4F87-B140-918DBA16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24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Models are useful but need broader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D41170-FC86-4AA3-8449-07DE0D90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244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46C"/>
                </a:solidFill>
              </a:defRPr>
            </a:pPr>
            <a:r>
              <a:rPr sz="1500" b="0">
                <a:solidFill>
                  <a:srgbClr val="60646C"/>
                </a:solidFill>
              </a:rPr>
              <a:t>83.3% test accuracy is promising, though the test set contains only 18 launches.</a:t>
            </a:r>
          </a:p>
        </p:txBody>
      </p:sp>
    </p:spTree>
    <p:extLst>
      <p:ext uri="{BB962C8B-B14F-4D97-AF65-F5344CB8AC3E}">
        <p14:creationId xmlns:p14="http://schemas.microsoft.com/office/powerpoint/2010/main" val="14265690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031DC-305B-4B10-9965-CE19DF28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PROJECT ASSETS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EA161-E7B3-46C6-B8DB-AE1F7B1A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Submission package maps directly to the capstone rubric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35DCD-395B-4B53-84F6-7F02F11C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E1CB3-4395-4EF8-9AFE-F29E7E06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Included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8F8B4-91FE-4EAA-8312-970F22DF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API collection notebook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Web scraping notebook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Data wrangling notebook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EDA visualization notebook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SQL notebook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Folium notebook + HTML map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Dash application + screenshots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Machine learning notebook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3E25C-AB4C-4A1F-ACBD-14B21594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5391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985B8-6917-4828-A2CA-3651A332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5737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Before uploading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EE53F0-9DFE-41DC-AE8F-C69B17F7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81250"/>
            <a:ext cx="4381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Add your GitHub repository URL to this slide and confirm every notebook is committed. Export this presentation to PDF for peer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07C3C-1F1F-4A66-87F7-52FD58DB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5287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533D"/>
                </a:solidFill>
              </a:defRPr>
            </a:pPr>
            <a:r>
              <a:rPr sz="1275" b="1">
                <a:solidFill>
                  <a:srgbClr val="E5533D"/>
                </a:solidFill>
              </a:rPr>
              <a:t>Repository URL was not supplied with the project files.</a:t>
            </a:r>
          </a:p>
        </p:txBody>
      </p:sp>
    </p:spTree>
    <p:extLst>
      <p:ext uri="{BB962C8B-B14F-4D97-AF65-F5344CB8AC3E}">
        <p14:creationId xmlns:p14="http://schemas.microsoft.com/office/powerpoint/2010/main" val="12937662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2026-08-28T13:09:54.7670000Z</dcterms:created>
  <dcterms:modified xsi:type="dcterms:W3CDTF">2026-08-28T13:09:54.7670000Z</dcterms:modified>
</coreProperties>
</file>