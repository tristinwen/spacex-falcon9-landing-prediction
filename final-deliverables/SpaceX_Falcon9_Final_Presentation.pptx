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fa8b95d1724062" /><Relationship Type="http://schemas.openxmlformats.org/officeDocument/2006/relationships/extended-properties" Target="/docProps/app.xml" Id="R6d7d545280d74dbc" /><Relationship Type="http://schemas.openxmlformats.org/officeDocument/2006/relationships/officeDocument" Target="/ppt/presentation.xml" Id="Ra5374be340954e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481712989447dc"/>
  </p:sldMasterIdLst>
  <p:notesMasterIdLst>
    <p:notesMasterId xmlns:r="http://schemas.openxmlformats.org/officeDocument/2006/relationships" r:id="R8aada366f3414c4b"/>
  </p:notesMasterIdLst>
  <p:sldIdLst>
    <p:sldId xmlns:r="http://schemas.openxmlformats.org/officeDocument/2006/relationships" id="256" r:id="Rd734933c30a147d9"/>
    <p:sldId xmlns:r="http://schemas.openxmlformats.org/officeDocument/2006/relationships" id="257" r:id="Rb7e309aa688348c1"/>
    <p:sldId xmlns:r="http://schemas.openxmlformats.org/officeDocument/2006/relationships" id="258" r:id="R264c8187c3a949fb"/>
    <p:sldId xmlns:r="http://schemas.openxmlformats.org/officeDocument/2006/relationships" id="259" r:id="R5cf791647e354a9c"/>
    <p:sldId xmlns:r="http://schemas.openxmlformats.org/officeDocument/2006/relationships" id="260" r:id="Rf2fc89a13984412c"/>
    <p:sldId xmlns:r="http://schemas.openxmlformats.org/officeDocument/2006/relationships" id="261" r:id="R879d7af98e524f4f"/>
    <p:sldId xmlns:r="http://schemas.openxmlformats.org/officeDocument/2006/relationships" id="262" r:id="R47219440b89645c0"/>
    <p:sldId xmlns:r="http://schemas.openxmlformats.org/officeDocument/2006/relationships" id="263" r:id="Rc3f0c2f105cf4216"/>
    <p:sldId xmlns:r="http://schemas.openxmlformats.org/officeDocument/2006/relationships" id="264" r:id="Ra49d27ea0a9349d3"/>
    <p:sldId xmlns:r="http://schemas.openxmlformats.org/officeDocument/2006/relationships" id="265" r:id="Rb25eef0061704781"/>
    <p:sldId xmlns:r="http://schemas.openxmlformats.org/officeDocument/2006/relationships" id="266" r:id="R2adbc7c5a91a4dfd"/>
    <p:sldId xmlns:r="http://schemas.openxmlformats.org/officeDocument/2006/relationships" id="267" r:id="R651c5317bd9d429b"/>
    <p:sldId xmlns:r="http://schemas.openxmlformats.org/officeDocument/2006/relationships" id="268" r:id="R1b1c3b2641e54e8b"/>
    <p:sldId xmlns:r="http://schemas.openxmlformats.org/officeDocument/2006/relationships" id="269" r:id="R0b24fd873a804d4c"/>
    <p:sldId xmlns:r="http://schemas.openxmlformats.org/officeDocument/2006/relationships" id="270" r:id="Rcaafccc2f79a409d"/>
    <p:sldId xmlns:r="http://schemas.openxmlformats.org/officeDocument/2006/relationships" id="271" r:id="Re6a0a25058b74dcb"/>
    <p:sldId xmlns:r="http://schemas.openxmlformats.org/officeDocument/2006/relationships" id="272" r:id="R2b14019159c449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cc9ab0af84416f" /><Relationship Type="http://schemas.openxmlformats.org/officeDocument/2006/relationships/slideMaster" Target="/ppt/slideMasters/slideMaster1.xml" Id="R08481712989447dc" /><Relationship Type="http://schemas.openxmlformats.org/officeDocument/2006/relationships/notesMaster" Target="/ppt/notesMasters/notesMaster1.xml" Id="R8aada366f3414c4b" /><Relationship Type="http://schemas.openxmlformats.org/officeDocument/2006/relationships/presProps" Target="/ppt/presProps.xml" Id="R521c35496e55449d" /><Relationship Type="http://schemas.openxmlformats.org/officeDocument/2006/relationships/tableStyles" Target="/ppt/tableStyles.xml" Id="Re5cddbf5b191489c" /><Relationship Type="http://schemas.openxmlformats.org/officeDocument/2006/relationships/slide" Target="/ppt/slides/slide1.xml" Id="Rd734933c30a147d9" /><Relationship Type="http://schemas.openxmlformats.org/officeDocument/2006/relationships/slide" Target="/ppt/slides/slide2.xml" Id="Rb7e309aa688348c1" /><Relationship Type="http://schemas.openxmlformats.org/officeDocument/2006/relationships/slide" Target="/ppt/slides/slide3.xml" Id="R264c8187c3a949fb" /><Relationship Type="http://schemas.openxmlformats.org/officeDocument/2006/relationships/slide" Target="/ppt/slides/slide4.xml" Id="R5cf791647e354a9c" /><Relationship Type="http://schemas.openxmlformats.org/officeDocument/2006/relationships/slide" Target="/ppt/slides/slide5.xml" Id="Rf2fc89a13984412c" /><Relationship Type="http://schemas.openxmlformats.org/officeDocument/2006/relationships/slide" Target="/ppt/slides/slide6.xml" Id="R879d7af98e524f4f" /><Relationship Type="http://schemas.openxmlformats.org/officeDocument/2006/relationships/slide" Target="/ppt/slides/slide7.xml" Id="R47219440b89645c0" /><Relationship Type="http://schemas.openxmlformats.org/officeDocument/2006/relationships/slide" Target="/ppt/slides/slide8.xml" Id="Rc3f0c2f105cf4216" /><Relationship Type="http://schemas.openxmlformats.org/officeDocument/2006/relationships/slide" Target="/ppt/slides/slide9.xml" Id="Ra49d27ea0a9349d3" /><Relationship Type="http://schemas.openxmlformats.org/officeDocument/2006/relationships/slide" Target="/ppt/slides/slide10.xml" Id="Rb25eef0061704781" /><Relationship Type="http://schemas.openxmlformats.org/officeDocument/2006/relationships/slide" Target="/ppt/slides/slide11.xml" Id="R2adbc7c5a91a4dfd" /><Relationship Type="http://schemas.openxmlformats.org/officeDocument/2006/relationships/slide" Target="/ppt/slides/slide12.xml" Id="R651c5317bd9d429b" /><Relationship Type="http://schemas.openxmlformats.org/officeDocument/2006/relationships/slide" Target="/ppt/slides/slide13.xml" Id="R1b1c3b2641e54e8b" /><Relationship Type="http://schemas.openxmlformats.org/officeDocument/2006/relationships/slide" Target="/ppt/slides/slide14.xml" Id="R0b24fd873a804d4c" /><Relationship Type="http://schemas.openxmlformats.org/officeDocument/2006/relationships/slide" Target="/ppt/slides/slide15.xml" Id="Rcaafccc2f79a409d" /><Relationship Type="http://schemas.openxmlformats.org/officeDocument/2006/relationships/slide" Target="/ppt/slides/slide16.xml" Id="Re6a0a25058b74dcb" /><Relationship Type="http://schemas.openxmlformats.org/officeDocument/2006/relationships/slide" Target="/ppt/slides/slide17.xml" Id="R2b14019159c449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a865c4fe4840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8d73a084aa4e03" /><Relationship Type="http://schemas.openxmlformats.org/officeDocument/2006/relationships/notesMaster" Target="/ppt/notesMasters/notesMaster1.xml" Id="R6be9df5fa10142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6bc40cb5674c91" /><Relationship Type="http://schemas.openxmlformats.org/officeDocument/2006/relationships/notesMaster" Target="/ppt/notesMasters/notesMaster1.xml" Id="Rc07875d970ff4b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5eda56423248f5" /><Relationship Type="http://schemas.openxmlformats.org/officeDocument/2006/relationships/notesMaster" Target="/ppt/notesMasters/notesMaster1.xml" Id="Rb631e166b4db49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d7046396ec4a59" /><Relationship Type="http://schemas.openxmlformats.org/officeDocument/2006/relationships/notesMaster" Target="/ppt/notesMasters/notesMaster1.xml" Id="R6625e7784ef44f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54505521794382" /><Relationship Type="http://schemas.openxmlformats.org/officeDocument/2006/relationships/notesMaster" Target="/ppt/notesMasters/notesMaster1.xml" Id="R1bb96eccae7343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8edbf5b16944bf3" /><Relationship Type="http://schemas.openxmlformats.org/officeDocument/2006/relationships/notesMaster" Target="/ppt/notesMasters/notesMaster1.xml" Id="R78192a8a3b9b43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42e902e73c4859" /><Relationship Type="http://schemas.openxmlformats.org/officeDocument/2006/relationships/notesMaster" Target="/ppt/notesMasters/notesMaster1.xml" Id="R8c253c12dc4d43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4d176dda62428f" /><Relationship Type="http://schemas.openxmlformats.org/officeDocument/2006/relationships/notesMaster" Target="/ppt/notesMasters/notesMaster1.xml" Id="R526adc85649244e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b0f57c506d4400" /><Relationship Type="http://schemas.openxmlformats.org/officeDocument/2006/relationships/notesMaster" Target="/ppt/notesMasters/notesMaster1.xml" Id="R85498f2d22954c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3f202905da448e" /><Relationship Type="http://schemas.openxmlformats.org/officeDocument/2006/relationships/notesMaster" Target="/ppt/notesMasters/notesMaster1.xml" Id="R374ea46b17fb48a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818e4635c5c4228" /><Relationship Type="http://schemas.openxmlformats.org/officeDocument/2006/relationships/notesMaster" Target="/ppt/notesMasters/notesMaster1.xml" Id="R9734414df5b145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1e67a1575f844fe" /><Relationship Type="http://schemas.openxmlformats.org/officeDocument/2006/relationships/notesMaster" Target="/ppt/notesMasters/notesMaster1.xml" Id="R766d0a13ee814b8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4c23fb2b8524209" /><Relationship Type="http://schemas.openxmlformats.org/officeDocument/2006/relationships/notesMaster" Target="/ppt/notesMasters/notesMaster1.xml" Id="Rfabf7ceeea70446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e4df014dcae49dd" /><Relationship Type="http://schemas.openxmlformats.org/officeDocument/2006/relationships/notesMaster" Target="/ppt/notesMasters/notesMaster1.xml" Id="Rfcec96b407994fe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8838d017e3e4b3e" /><Relationship Type="http://schemas.openxmlformats.org/officeDocument/2006/relationships/notesMaster" Target="/ppt/notesMasters/notesMaster1.xml" Id="Rc267ec3a8b18482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d0d33dd95104e22" /><Relationship Type="http://schemas.openxmlformats.org/officeDocument/2006/relationships/notesMaster" Target="/ppt/notesMasters/notesMaster1.xml" Id="Rc4092dd926b447e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17d1035913d430d" /><Relationship Type="http://schemas.openxmlformats.org/officeDocument/2006/relationships/notesMaster" Target="/ppt/notesMasters/notesMaster1.xml" Id="Rc491eba813954f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completed notebooks in C:/Users/Administrator/Downloads/completed/ipynb.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https://github.com/TristinWen/spacex-falcon9-landing-prediction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 Wrangling notebook: class mean 0.8777778.</a:t>
            </a:r>
          </a:p>
          <a:p xmlns:a="http://schemas.openxmlformats.org/drawingml/2006/main">
            <a:r>
              <a:t>- Machine Learning notebook: model_scores output.</a:t>
            </a:r>
          </a:p>
          <a:p xmlns:a="http://schemas.openxmlformats.org/drawingml/2006/main">
            <a:r>
              <a:t>- Dash screenshot: All Sites success share.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IBM Data Science Capstone project problem statement and completed Data Wrangling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Completed notebooks and spacex-dash-app.py supplied by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API collection notebook Tasks 1-3 and final Falcon 9 DataFrame.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Web scraping notebook Tasks 1-3 and parsed DataFrame output.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 Wrangling notebook Tasks 1-4.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EDA visualization notebook Tasks 3 and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SQL notebook Tasks 1-10.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Folium notebook Tasks 1-3 and spacex_launch_site_proximity_map.html.</a:t>
            </a:r>
          </a:p>
          <a:p xmlns:a="http://schemas.openxmlformats.org/drawingml/2006/main">
            <a:r>
              <a:t>- OpenStreetMap tiles rendered from the interactive map.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spacex-dash-app_1.png.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spacex-dash-app_2.png.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Machine Learning notebook Tasks 1-12, model_scores output, and confusion matrices.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Synthesis of user-provided EDA, dashboard, SQL, Folium, and ML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 assets supplied by the user.</a:t>
            </a:r>
          </a:p>
          <a:p xmlns:a="http://schemas.openxmlformats.org/drawingml/2006/main">
            <a:r>
              <a:t>- https://github.com/TristinWen/spacex-falcon9-landing-prediction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Index created to make each IBM capstone rubric item directly identifiable.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8aada3a9644a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90a54da3cc94b63" /><Relationship Type="http://schemas.openxmlformats.org/officeDocument/2006/relationships/slideLayout" Target="/ppt/slideLayouts/slideLayout1.xml" Id="R7b4140bb9a4744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4140bb9a4744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a50566a2ae4d9c" /><Relationship Type="http://schemas.openxmlformats.org/officeDocument/2006/relationships/notesSlide" Target="/ppt/notesSlides/notesSlide1.xml" Id="Rd2c99cba84574b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6f83c7e18422d" /><Relationship Type="http://schemas.openxmlformats.org/officeDocument/2006/relationships/notesSlide" Target="/ppt/notesSlides/notesSlide2.xml" Id="Ra2a6ef092b7048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d467aeac074bfc" /><Relationship Type="http://schemas.openxmlformats.org/officeDocument/2006/relationships/notesSlide" Target="/ppt/notesSlides/notesSlide3.xml" Id="R83110724286042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87211b560843e7" /><Relationship Type="http://schemas.openxmlformats.org/officeDocument/2006/relationships/notesSlide" Target="/ppt/notesSlides/notesSlide4.xml" Id="R434a4881467440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3b2e76654142d7" /><Relationship Type="http://schemas.openxmlformats.org/officeDocument/2006/relationships/notesSlide" Target="/ppt/notesSlides/notesSlide5.xml" Id="Rd0d1088a76354d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8f46fa0504aee" /><Relationship Type="http://schemas.openxmlformats.org/officeDocument/2006/relationships/notesSlide" Target="/ppt/notesSlides/notesSlide6.xml" Id="R6a799df019c249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1b8ac4940542a1" /><Relationship Type="http://schemas.openxmlformats.org/officeDocument/2006/relationships/notesSlide" Target="/ppt/notesSlides/notesSlide7.xml" Id="R124b8c5b31fa49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9d0ff83054375" /><Relationship Type="http://schemas.openxmlformats.org/officeDocument/2006/relationships/notesSlide" Target="/ppt/notesSlides/notesSlide8.xml" Id="Rc181b0512f4747d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abec43d2a04397" /><Relationship Type="http://schemas.openxmlformats.org/officeDocument/2006/relationships/image" Target="/ppt/media/image.png" Id="R44dc86fe4851482f" /><Relationship Type="http://schemas.openxmlformats.org/officeDocument/2006/relationships/image" Target="/ppt/media/image2.png" Id="R9855bae84a1141bc" /><Relationship Type="http://schemas.openxmlformats.org/officeDocument/2006/relationships/notesSlide" Target="/ppt/notesSlides/notesSlide9.xml" Id="R9957ff8cbcf24e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0f7cde39142f2" /><Relationship Type="http://schemas.openxmlformats.org/officeDocument/2006/relationships/notesSlide" Target="/ppt/notesSlides/notesSlide10.xml" Id="R05dea64eeb7848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8cafac9c714fc4" /><Relationship Type="http://schemas.openxmlformats.org/officeDocument/2006/relationships/image" Target="/ppt/media/image3.png" Id="R27303470c57e47d9" /><Relationship Type="http://schemas.openxmlformats.org/officeDocument/2006/relationships/notesSlide" Target="/ppt/notesSlides/notesSlide11.xml" Id="R12857a47041546e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31559670a14be6" /><Relationship Type="http://schemas.openxmlformats.org/officeDocument/2006/relationships/image" Target="/ppt/media/image4.png" Id="R1c7bfec1cdee479b" /><Relationship Type="http://schemas.openxmlformats.org/officeDocument/2006/relationships/notesSlide" Target="/ppt/notesSlides/notesSlide12.xml" Id="R2536419cc7e8429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8853de65843f1" /><Relationship Type="http://schemas.openxmlformats.org/officeDocument/2006/relationships/image" Target="/ppt/media/image5.png" Id="Rebdb84c7ffdd4462" /><Relationship Type="http://schemas.openxmlformats.org/officeDocument/2006/relationships/notesSlide" Target="/ppt/notesSlides/notesSlide13.xml" Id="R172b6852fcb2405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977d3d97124a4f" /><Relationship Type="http://schemas.openxmlformats.org/officeDocument/2006/relationships/image" Target="/ppt/media/image6.png" Id="R0d1929482034441e" /><Relationship Type="http://schemas.openxmlformats.org/officeDocument/2006/relationships/notesSlide" Target="/ppt/notesSlides/notesSlide14.xml" Id="R69a4de3b1cac47e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ec011000048cf" /><Relationship Type="http://schemas.openxmlformats.org/officeDocument/2006/relationships/notesSlide" Target="/ppt/notesSlides/notesSlide15.xml" Id="Rd38c9472184547c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5131e4904409c" /><Relationship Type="http://schemas.openxmlformats.org/officeDocument/2006/relationships/notesSlide" Target="/ppt/notesSlides/notesSlide16.xml" Id="R61075b2ad7c6452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0d644613ac4fd8" /><Relationship Type="http://schemas.openxmlformats.org/officeDocument/2006/relationships/notesSlide" Target="/ppt/notesSlides/notesSlide17.xml" Id="R62602da5c777488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D69B9-86E9-451E-898B-831F4C28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186D19-3068-4844-BE27-4C1631736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81125"/>
            <a:ext cx="80962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SpaceX Falcon 9</a:t>
            </a:r>
          </a:p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First-Stage Landing Prediction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CD439-D1E4-4B59-BC6F-FB1E8403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0646C"/>
                </a:solidFill>
              </a:defRPr>
            </a:pPr>
            <a:r>
              <a:rPr sz="1950" b="0">
                <a:solidFill>
                  <a:srgbClr val="60646C"/>
                </a:solidFill>
              </a:rPr>
              <a:t>IBM Data Science Capstone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88E5E5-6596-447C-886D-5555F231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904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Final presentation | Data collection, analysis, interactive visualization, and machine learning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263115-5D36-42D6-A7C4-EA7791D3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Dataset period: 2010-2020</a:t>
            </a:r>
          </a:p>
        </p:txBody>
      </p:sp>
    </p:spTree>
    <p:extLst>
      <p:ext uri="{BB962C8B-B14F-4D97-AF65-F5344CB8AC3E}">
        <p14:creationId xmlns:p14="http://schemas.microsoft.com/office/powerpoint/2010/main" val="17867308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75E4D2-C88C-44BE-8F0E-C09B3E88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GITHUB PROJECT URL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6B95D-ABEC-4679-9CF5-D142EBFB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GitHub Repository URL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2A3A82-C4C3-4C81-9266-D1F7979E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094700-E58E-4DDF-88B5-1F2C7022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Public project 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E6090C-6C6A-4A97-AC45-C1B9C577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D8DFF"/>
                </a:solidFill>
              </a:defRPr>
            </a:pPr>
            <a:r>
              <a:rPr sz="1875" b="1">
                <a:solidFill>
                  <a:srgbClr val="3D8DFF"/>
                </a:solidFill>
              </a:rPr>
              <a:t>https://github.com/TristinWen/spacex-falcon9-landing-prediction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53E581-B3D9-4494-9134-2EC1AC3F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9728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C70594-8F7D-497C-AC79-5CC09A6D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766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Repository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FE212C-6FAD-4B69-BAE8-EF31E5EB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Seven completed notebooks  •  Dash source and screenshots  •  Folium map  •  Final PPTX/PDF  •  Final DOCX/PDF report</a:t>
            </a:r>
          </a:p>
        </p:txBody>
      </p:sp>
    </p:spTree>
    <p:extLst>
      <p:ext uri="{BB962C8B-B14F-4D97-AF65-F5344CB8AC3E}">
        <p14:creationId xmlns:p14="http://schemas.microsoft.com/office/powerpoint/2010/main" val="11063044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39803-FB08-4E57-8784-DF57FBF2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EXECUTIVE 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CD6E3-78B6-4290-B6E4-450B1453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The analysis identifies where and when Falcon 9 landings succeed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546FA8-3AF5-407C-97B2-DAD1BFCB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279130-B86E-49DB-B051-483D7F7A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A reusable first stage lowers launch cost, so predicting landing success supports competitive bid estimates.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1A04F-10A0-4929-B955-17CBC6AF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</a:defRPr>
            </a:pPr>
            <a:r>
              <a:rPr sz="4050" b="1">
                <a:solidFill>
                  <a:srgbClr val="3D8DFF"/>
                </a:solidFill>
              </a:rPr>
              <a:t>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4E9EC-8B04-4E54-9952-381C4711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46C"/>
                </a:solidFill>
              </a:defRPr>
            </a:pPr>
            <a:r>
              <a:rPr sz="1350" b="0">
                <a:solidFill>
                  <a:srgbClr val="60646C"/>
                </a:solidFill>
              </a:rPr>
              <a:t>Falcon 9 launches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A48397-7421-41E0-812A-FBBD4403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336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3A36F"/>
                </a:solidFill>
              </a:defRPr>
            </a:pPr>
            <a:r>
              <a:rPr sz="4050" b="1">
                <a:solidFill>
                  <a:srgbClr val="13A36F"/>
                </a:solidFill>
              </a:rPr>
              <a:t>87.8%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96EF4D-DD97-44AE-A4C8-FA20892C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289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46C"/>
                </a:solidFill>
              </a:defRPr>
            </a:pPr>
            <a:r>
              <a:rPr sz="1350" b="0">
                <a:solidFill>
                  <a:srgbClr val="60646C"/>
                </a:solidFill>
              </a:rPr>
              <a:t>successful landings in prepared labels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CBBC1E-FAB7-4184-8874-B797CE77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336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</a:defRPr>
            </a:pPr>
            <a:r>
              <a:rPr sz="4050" b="1">
                <a:solidFill>
                  <a:srgbClr val="3D8DFF"/>
                </a:solidFill>
              </a:rPr>
              <a:t>83.3%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F041EF-1BEA-4DDD-B6CF-F0F6D0B2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289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46C"/>
                </a:solidFill>
              </a:defRPr>
            </a:pPr>
            <a:r>
              <a:rPr sz="1350" b="0">
                <a:solidFill>
                  <a:srgbClr val="60646C"/>
                </a:solidFill>
              </a:rPr>
              <a:t>test accuracy across four models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76DC35-0AF7-4287-93C9-BE8FD3AE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336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E5533D"/>
                </a:solidFill>
              </a:defRPr>
            </a:pPr>
            <a:r>
              <a:rPr sz="4050" b="1">
                <a:solidFill>
                  <a:srgbClr val="E5533D"/>
                </a:solidFill>
              </a:rPr>
              <a:t>41.7%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365848-B009-4C72-8539-22B64DDD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2895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646C"/>
                </a:solidFill>
              </a:defRPr>
            </a:pPr>
            <a:r>
              <a:rPr sz="1350" b="0">
                <a:solidFill>
                  <a:srgbClr val="60646C"/>
                </a:solidFill>
              </a:rPr>
              <a:t>share of all successful launches at KSC LC-39A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1B91BB-E5C7-4390-8D14-B04D0940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Key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2422F9-8E92-4CED-B3A4-D41A7329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47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Operational history and launch context provide useful predictive signal, while launch site, orbit, payload, and booster configuration explain meaningful differences in outcomes.</a:t>
            </a:r>
          </a:p>
        </p:txBody>
      </p:sp>
    </p:spTree>
    <p:extLst>
      <p:ext uri="{BB962C8B-B14F-4D97-AF65-F5344CB8AC3E}">
        <p14:creationId xmlns:p14="http://schemas.microsoft.com/office/powerpoint/2010/main" val="14474580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CFF2E1-9CA5-472F-9B7D-4786E54A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INTRODUCTION: BACKGROUND AND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07B665-5FB4-47AE-9A07-58BE5E7B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Predicting first-stage landing success supports launch-cost estimates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AC5F44-6834-4742-B374-A8C84DB9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42D746-97D0-463D-95C2-F9B669B4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Business context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6D46CC-CFFF-4267-849B-DA0C39E7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SpaceX can offer lower launch prices partly because Falcon 9 first stages are designed for recovery and reuse.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B42101-6CFB-43A1-9364-5CAD4234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668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Analytical 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B716D8-148F-45E0-B799-E5CC9149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43125"/>
            <a:ext cx="476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Determine which mission characteristics are associated with a successful landing and compare classification models that predict the outcome.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2A723B-AE58-43F6-87D7-E5351032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D5925-E779-4A55-87B1-F1FCC2C4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333875"/>
            <a:ext cx="1028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Target variable: Class = 1 for successful landing; Class = 0 for unsuccessful landing.</a:t>
            </a:r>
          </a:p>
        </p:txBody>
      </p:sp>
    </p:spTree>
    <p:extLst>
      <p:ext uri="{BB962C8B-B14F-4D97-AF65-F5344CB8AC3E}">
        <p14:creationId xmlns:p14="http://schemas.microsoft.com/office/powerpoint/2010/main" val="15603219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B5F7E7-75B8-4DA7-AFEE-32E524FB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631EC-E486-4478-A2F8-26B6BEDB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The project combines seven analytical stages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55C1DC-DE34-4C62-B7F1-ADF593DF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52B0E3-8852-49DC-911C-7A05C1C6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FCED7F-8BAE-4A4D-ADA6-A58CA4BE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5B0E9B-9943-4532-BD5E-9F389063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API collection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22B254-EF21-4920-B287-BFCB10A4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6479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BCC4"/>
                </a:solidFill>
              </a:defRPr>
            </a:pPr>
            <a:r>
              <a:rPr sz="180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277E86-0633-4318-BF53-78A629C7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46FBD8-6F0A-4387-8706-96AFF8F4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2B79C-E6A0-4D27-98FB-23848A6F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Web scraping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61AC6B-D751-43B2-9ACA-73913ED0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6479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BCC4"/>
                </a:solidFill>
              </a:defRPr>
            </a:pPr>
            <a:r>
              <a:rPr sz="180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68EDC0-3AC3-4658-9FC9-71C1098E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3BF273-6BB4-48A2-AC44-A7652581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1219EE-7F58-4D76-83BE-7CE912CC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Wrangling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BD1B3-B390-4939-988B-0DFB6DFE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479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BCC4"/>
                </a:solidFill>
              </a:defRPr>
            </a:pPr>
            <a:r>
              <a:rPr sz="180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5003E2-919F-47AE-87AF-EB27C98A1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CDD02E-5B16-455B-AF4B-827EFC9B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98FCEB-1351-449C-9881-ED040DE3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EDA + SQL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6D5E69-1EA3-475B-954E-B3B089BD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6479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BCC4"/>
                </a:solidFill>
              </a:defRPr>
            </a:pPr>
            <a:r>
              <a:rPr sz="180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1BAD60-9B90-4E0F-BCB7-BEB02819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BF8C7F-5BF5-42DC-A0FC-CB8612E0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D872A1-F24A-4E23-8C47-CD132B71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Folium + Dash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DC4C82-FBE2-4E5C-98B7-BB8A53F7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6479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BCC4"/>
                </a:solidFill>
              </a:defRPr>
            </a:pPr>
            <a:r>
              <a:rPr sz="180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5FF546-79B4-45D7-89A8-05B163B0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FB83F3-382E-46EE-884A-8F827A1B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F0E429-4765-4D24-93AE-C767779E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Feature engineering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4F6F9B-B075-4629-B20F-68DAB8AA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6479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BCC4"/>
                </a:solidFill>
              </a:defRPr>
            </a:pPr>
            <a:r>
              <a:rPr sz="180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0242C8-EA76-4DD4-BB94-C864084B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238375"/>
            <a:ext cx="1352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DE3EC1-D2D3-41C1-BE6F-4262E8AC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622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5377E5-A6FB-425A-A7D9-9F8DE078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686050"/>
            <a:ext cx="1123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Model selection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9EE497-42B4-425C-A121-DCE2B5D0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646C"/>
                </a:solidFill>
              </a:defRPr>
            </a:pPr>
            <a:r>
              <a:rPr sz="1800" b="0">
                <a:solidFill>
                  <a:srgbClr val="60646C"/>
                </a:solidFill>
              </a:rPr>
              <a:t>Evidence was retained in executed notebooks, dashboard screenshots, and an interactive Folium HTML map.</a:t>
            </a:r>
          </a:p>
        </p:txBody>
      </p:sp>
    </p:spTree>
    <p:extLst>
      <p:ext uri="{BB962C8B-B14F-4D97-AF65-F5344CB8AC3E}">
        <p14:creationId xmlns:p14="http://schemas.microsoft.com/office/powerpoint/2010/main" val="12308775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FAA432-AB5E-4F36-B311-368BF2B5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DATA COLLECTION: SPACEX 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4ED9BE-246A-4DE7-817B-76CF24EC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SpaceX API data collection produces 90 Falcon 9 launch records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BA4FC6-289B-4B58-AE0B-6301C38A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5610A6-4134-4B8F-B26D-46B47CFC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905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9CA814-C237-4CC6-9DF1-99AC4B4D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526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Request and parse launch 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5C0032-55A9-4BF8-AE51-D2F42EB4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24125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Request past launches from the SpaceX REST API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Normalize JSON into a Pandas DataFrame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Resolve rocket, payload, launchpad, and core IDs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Retain booster, payload, orbit, site, outcome, reuse, and coordinates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0288FE-640F-453D-83F2-8F4C8418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002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3D8DFF"/>
                </a:solidFill>
              </a:defRPr>
            </a:pPr>
            <a:r>
              <a:rPr sz="4500" b="1">
                <a:solidFill>
                  <a:srgbClr val="3D8DFF"/>
                </a:solidFill>
              </a:rPr>
              <a:t>90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73EFEE-A6CA-40ED-A11D-B2AFB14F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098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Falcon 9 launch records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75FC01-B9C3-4E3A-97E0-C48911BA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76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3A36F"/>
                </a:solidFill>
              </a:defRPr>
            </a:pPr>
            <a:r>
              <a:rPr sz="1800" b="1">
                <a:solidFill>
                  <a:srgbClr val="13A36F"/>
                </a:solidFill>
              </a:rPr>
              <a:t>17 analytical fields</a:t>
            </a:r>
          </a:p>
        </p:txBody>
      </p:sp>
    </p:spTree>
    <p:extLst>
      <p:ext uri="{BB962C8B-B14F-4D97-AF65-F5344CB8AC3E}">
        <p14:creationId xmlns:p14="http://schemas.microsoft.com/office/powerpoint/2010/main" val="3062730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5413A9-0F13-44FE-9F23-2FD71910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DATA COLLECTION: WEB SCRAPING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D9FAA-9567-405E-AA2A-6D01328C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Web Scraping extracts 121 historical launch-table rows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4E3B0-2530-4B1C-B217-8236F798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B2646F-2D28-4DD1-8CEF-1E59D5B6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905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A93E9-2E5C-4340-81D2-C2A4C532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526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BeautifulSoup parsing workflow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3EA3FD-AEC7-4FC5-8E74-6EAEDF49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24125"/>
            <a:ext cx="4953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Request the Wikipedia Falcon 9 launch snapshot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Extract HTML table headers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Parse flight, date, booster, site, payload, orbit, customer, outcome, and landing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Convert the launch dictionary to a Pandas DataFrame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1828C-B37A-4768-98AD-28CFBEFF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00250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3D8DFF"/>
                </a:solidFill>
              </a:defRPr>
            </a:pPr>
            <a:r>
              <a:rPr sz="4500" b="1">
                <a:solidFill>
                  <a:srgbClr val="3D8DFF"/>
                </a:solidFill>
              </a:rPr>
              <a:t>121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990AA7-DCF6-4F15-A947-66C768B7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098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parsed launch rows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BB33C9-F179-475E-963D-35AFC699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76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3A36F"/>
                </a:solidFill>
              </a:defRPr>
            </a:pPr>
            <a:r>
              <a:rPr sz="1800" b="1">
                <a:solidFill>
                  <a:srgbClr val="13A36F"/>
                </a:solidFill>
              </a:rPr>
              <a:t>11 output columns</a:t>
            </a:r>
          </a:p>
        </p:txBody>
      </p:sp>
    </p:spTree>
    <p:extLst>
      <p:ext uri="{BB962C8B-B14F-4D97-AF65-F5344CB8AC3E}">
        <p14:creationId xmlns:p14="http://schemas.microsoft.com/office/powerpoint/2010/main" val="1782534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82B825-2BE0-4C89-B8A9-B2214AF4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DATA WRANGLING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B2CD6-DBE1-4384-9252-DD22CE97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Data Wrangling creates a consistent landing-success target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F13EC2-E630-4767-85AC-273AAEE2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F26834-FB6D-4002-8DAF-439E883A0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Launches by site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887C26-A72F-44F8-BF55-EAF9FAD2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CCAFS SLC 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6000B5-FC69-487A-8504-036D23B4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095500"/>
            <a:ext cx="3667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DFF3C9-38BA-47B4-AEBC-04449682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55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6D474D-EBAD-4D2B-B22B-4D75DF1E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KSC LC 39A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553E3D-B9AC-4420-972D-9ED3E4F7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7622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721937-AAF4-4FBD-8BE9-C5E1BB9B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622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FBF161-110E-484D-A37F-AD4E580A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VAFB SLC 4E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2CDE90-72C7-4774-A9EE-2968E720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429000"/>
            <a:ext cx="8667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7413D3-6556-4092-A9E6-AA5D485B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13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CB3F1C-0ACE-4E9B-8408-F466D2D6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716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Wrangling steps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8DB17E-9891-4A1B-A682-5BE15C81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95500"/>
            <a:ext cx="3619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Replace missing PayloadMass with the mean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Retain LandingPad nulls as meaningful “no pad” values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Map unsuccessful outcomes to Class = 0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Map remaining outcomes to Class =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0AB25C-B0C9-40EF-ACF3-868CF10A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Result: 90 rows, no missing PayloadMass values, and an 87.8% success share.</a:t>
            </a:r>
          </a:p>
        </p:txBody>
      </p:sp>
    </p:spTree>
    <p:extLst>
      <p:ext uri="{BB962C8B-B14F-4D97-AF65-F5344CB8AC3E}">
        <p14:creationId xmlns:p14="http://schemas.microsoft.com/office/powerpoint/2010/main" val="1859016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681EA9-FD1B-41B6-95BE-A14EDB85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EXPLORATORY DATA ANALYSIS WITH DATA VISUALIZATION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9B4C37-B0DF-4A41-87FF-9F6AEEE1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EDA with Visualization shows success improving over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AA3956-394C-4750-B756-32F6AC6D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c86fe4851482f"/>
          <a:stretch xmlns:a="http://schemas.openxmlformats.org/drawingml/2006/main"/>
        </p:blipFill>
        <p:spPr>
          <a:xfrm xmlns:a="http://schemas.openxmlformats.org/drawingml/2006/main">
            <a:off x="609600" y="1767614"/>
            <a:ext cx="5286375" cy="3418023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55bae84a1141bc"/>
          <a:stretch xmlns:a="http://schemas.openxmlformats.org/drawingml/2006/main"/>
        </p:blipFill>
        <p:spPr>
          <a:xfrm xmlns:a="http://schemas.openxmlformats.org/drawingml/2006/main">
            <a:off x="6571655" y="1476375"/>
            <a:ext cx="4725591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28B348-A343-47AF-8115-4E4CF33F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528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3A36F"/>
                </a:solidFill>
              </a:defRPr>
            </a:pPr>
            <a:r>
              <a:rPr sz="1425" b="1">
                <a:solidFill>
                  <a:srgbClr val="13A36F"/>
                </a:solidFill>
              </a:rPr>
              <a:t>Yearly Launch Success Trend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7A6DF7-A02F-48BC-92BB-F98ACDCF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19750"/>
            <a:ext cx="5295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Success Rate by Orbit Type</a:t>
            </a:r>
          </a:p>
        </p:txBody>
      </p:sp>
    </p:spTree>
    <p:extLst>
      <p:ext uri="{BB962C8B-B14F-4D97-AF65-F5344CB8AC3E}">
        <p14:creationId xmlns:p14="http://schemas.microsoft.com/office/powerpoint/2010/main" val="15845439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32CA42-63CE-42E4-9D57-4F60D30C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EXPLORATORY DATA ANALYSIS WITH SQL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6FB8C3-AAC8-42F5-893A-F10D2144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EDA with SQL confirms milestones and payload patterns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C39BDA-853A-491E-920E-B8CDED6A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9F4CE8-2095-4EEB-92ED-67E345F3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344FA8-BB46-499F-B951-7A1DF58B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NASA CRS payload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BE094A-52B5-491E-B8E3-F9B5DAC0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52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45,596 kg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94ED94-06E3-4BCE-AE9D-CC688878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Avg. F9 v1.1 payload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01F59-8333-4DC2-ABFB-D48F3C74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193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2,928.4 kg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BD0708-A9E9-4071-B11B-A237DA6D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AEFE4E-F4C4-4C9B-8DC9-B9795179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861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First ground-pad success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4A3317-CC4F-4CD2-BB05-4858500D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86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22 Dec 2015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E0D87-ADD4-4E2D-9120-3C791DF8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Successful missions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7CD804-A84E-46D1-81AF-3EA19AA1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100*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82BEEB-4887-4D20-B11E-2082C286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6B4CF2-4AE3-482F-A804-66FCE1FD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Drone-ship successes, 2010-2017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ADF385-19A0-4EA0-9CFD-1719C7AC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19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B84BB6-8BA0-4EC6-A3F5-DCAAC5B8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646C"/>
                </a:solidFill>
              </a:defRPr>
            </a:pPr>
            <a:r>
              <a:rPr sz="1200" b="0">
                <a:solidFill>
                  <a:srgbClr val="60646C"/>
                </a:solidFill>
              </a:rPr>
              <a:t>SQL Tasks 1-10 completed; *source records include “Success” and “Success ” as separate values.</a:t>
            </a:r>
          </a:p>
        </p:txBody>
      </p:sp>
    </p:spTree>
    <p:extLst>
      <p:ext uri="{BB962C8B-B14F-4D97-AF65-F5344CB8AC3E}">
        <p14:creationId xmlns:p14="http://schemas.microsoft.com/office/powerpoint/2010/main" val="14790469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DD44D4-97E2-4F2D-A952-A6F57A53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INTERACTIVE VISUAL ANALYTICS: FOLIUM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2CAFD-661C-43CA-8F0D-F7F1E36D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Interactive Visual Analytics with Folium maps launch-site proximity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1F0E80-13BC-42B0-B669-282F99CA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03470c57e47d9"/>
          <a:srcRect xmlns:a="http://schemas.openxmlformats.org/drawingml/2006/main" l="0" t="877" r="0" b="8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428750"/>
            <a:ext cx="7239000" cy="4572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9F2CAF-DF4B-48DA-B9B3-167933C2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145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Required Folium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21D079-955D-4829-B367-E8147B21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238375"/>
            <a:ext cx="295275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All launch sites marked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Success and failure markers clustered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Distance to coastline calculated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Lines to city, railway, and highway proximities</a:t>
            </a:r>
          </a:p>
        </p:txBody>
      </p:sp>
    </p:spTree>
    <p:extLst>
      <p:ext uri="{BB962C8B-B14F-4D97-AF65-F5344CB8AC3E}">
        <p14:creationId xmlns:p14="http://schemas.microsoft.com/office/powerpoint/2010/main" val="4977188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C2B141-C989-4A90-80EB-0B901002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INTERACTIVE VISUAL ANALYTICS: PLOTLY DASH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7320B5-A209-4495-97DE-EE0FB19E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Plotly Dash: All-Sites Success Pie Chart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E5182-4AC5-4BD7-878D-93FCE855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7bfec1cdee479b"/>
          <a:stretch xmlns:a="http://schemas.openxmlformats.org/drawingml/2006/main"/>
        </p:blipFill>
        <p:spPr>
          <a:xfrm xmlns:a="http://schemas.openxmlformats.org/drawingml/2006/main">
            <a:off x="2347456" y="1381125"/>
            <a:ext cx="3953787" cy="4810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F7CE5E-D739-4522-B4DA-9EC06AE2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002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3D8DFF"/>
                </a:solidFill>
              </a:defRPr>
            </a:pPr>
            <a:r>
              <a:rPr sz="3900" b="1">
                <a:solidFill>
                  <a:srgbClr val="3D8DFF"/>
                </a:solidFill>
              </a:rPr>
              <a:t>41.7%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16DC0B-C222-4239-84A8-731D0F16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0"/>
            <a:ext cx="2571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KSC LC-39A has the largest share of successful launches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4FB35D-6249-4AAC-8852-478F496E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95750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646C"/>
                </a:solidFill>
              </a:defRPr>
            </a:pPr>
            <a:r>
              <a:rPr sz="1500" b="0">
                <a:solidFill>
                  <a:srgbClr val="60646C"/>
                </a:solidFill>
              </a:rPr>
              <a:t>Evidence: launch-site dropdown, success pie chart, payload range slider, and payload-versus-outcome scatter plot.</a:t>
            </a:r>
          </a:p>
        </p:txBody>
      </p:sp>
    </p:spTree>
    <p:extLst>
      <p:ext uri="{BB962C8B-B14F-4D97-AF65-F5344CB8AC3E}">
        <p14:creationId xmlns:p14="http://schemas.microsoft.com/office/powerpoint/2010/main" val="20534206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C761A-D2A1-4459-9620-4421C636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INTERACTIVE VISUAL ANALYTICS: PLOTLY DASH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0BEDBF-F643-43CF-80F5-C9559263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Plotly Dash: Site Filter and Payload Scatter Plot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E68376-A266-4CFF-A858-8C978F6B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db84c7ffdd4462"/>
          <a:stretch xmlns:a="http://schemas.openxmlformats.org/drawingml/2006/main"/>
        </p:blipFill>
        <p:spPr>
          <a:xfrm xmlns:a="http://schemas.openxmlformats.org/drawingml/2006/main">
            <a:off x="2339327" y="1381125"/>
            <a:ext cx="3970047" cy="4810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7B3263-C26C-48A5-B604-A47A707D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0002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E5533D"/>
                </a:solidFill>
              </a:defRPr>
            </a:pPr>
            <a:r>
              <a:rPr sz="3900" b="1">
                <a:solidFill>
                  <a:srgbClr val="E5533D"/>
                </a:solidFill>
              </a:rPr>
              <a:t>26.9%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A4B07-58F1-4E47-8A02-790185AE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CCAFS LC-40 successful launches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74A304-EB3D-468D-8321-4C386EEC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290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D8DFF"/>
                </a:solidFill>
              </a:defRPr>
            </a:pPr>
            <a:r>
              <a:rPr sz="1875" b="1">
                <a:solidFill>
                  <a:srgbClr val="3D8DFF"/>
                </a:solidFill>
              </a:rPr>
              <a:t>73.1% failed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67C29-DE0E-463C-BF68-161E9647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191000"/>
            <a:ext cx="304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646C"/>
                </a:solidFill>
              </a:defRPr>
            </a:pPr>
            <a:r>
              <a:rPr sz="1500" b="0">
                <a:solidFill>
                  <a:srgbClr val="60646C"/>
                </a:solidFill>
              </a:rPr>
              <a:t>Selecting a site updates both the success/failure pie chart and payload-versus-launch-outcome scatter plot.</a:t>
            </a:r>
          </a:p>
        </p:txBody>
      </p:sp>
    </p:spTree>
    <p:extLst>
      <p:ext uri="{BB962C8B-B14F-4D97-AF65-F5344CB8AC3E}">
        <p14:creationId xmlns:p14="http://schemas.microsoft.com/office/powerpoint/2010/main" val="190984349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4E78FE-CF3B-4539-9897-5C8CF201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PREDICTIVE ANALYSIS WITH MACHINE LEARNING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1F090E-1EA4-4D72-817F-5FBC1A06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Predictive Analysis: all four models reach 83.3% test accuracy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8F8E5C-6096-4A76-AF0B-DC3E0AA7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B88A57-81E3-4400-91E0-7BB694EA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548BB4-A7BB-4935-81B3-501141CD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19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CV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027FA4-54E8-410E-955F-7EBD3937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619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Test accuracy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CD30BE-8E8D-4C57-9668-FDB1B4D9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666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E403D8-18D6-4F0A-B6BE-B89DF1C6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145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Logistic regression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66E536-9181-4420-ADD8-C7B06D68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14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84.6%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B11AA9-3D0C-4DB2-B111-8EBB7436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14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A36F"/>
                </a:solidFill>
              </a:defRPr>
            </a:pPr>
            <a:r>
              <a:rPr sz="1500" b="1">
                <a:solidFill>
                  <a:srgbClr val="13A36F"/>
                </a:solidFill>
              </a:rPr>
              <a:t>83.3%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85FC33-702C-4157-AA5D-821824CF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Support vector machine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BB197A-33F5-4306-83C6-97254A2E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05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84.8%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27B7B9-EFE1-4157-81E6-8E00D48C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05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A36F"/>
                </a:solidFill>
              </a:defRPr>
            </a:pPr>
            <a:r>
              <a:rPr sz="1500" b="1">
                <a:solidFill>
                  <a:srgbClr val="13A36F"/>
                </a:solidFill>
              </a:rPr>
              <a:t>83.3%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9AEFED-2516-454B-A260-42C3C0D2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666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BB54BC-DF63-4163-A393-78746A98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956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Decision tree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E3B4A-647D-4701-893F-9B30AE76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956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92.9%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E82114-3FBB-4A66-B454-D81CA927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956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A36F"/>
                </a:solidFill>
              </a:defRPr>
            </a:pPr>
            <a:r>
              <a:rPr sz="1500" b="1">
                <a:solidFill>
                  <a:srgbClr val="13A36F"/>
                </a:solidFill>
              </a:rPr>
              <a:t>83.3%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7BE330-524B-4504-A8AA-14E2A6F2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862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K-nearest neighbors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FA6730-CB9F-4AD6-B127-D4D44295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862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84.8%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94D113-9B05-4A52-A394-92044074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862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A36F"/>
                </a:solidFill>
              </a:defRPr>
            </a:pPr>
            <a:r>
              <a:rPr sz="1500" b="1">
                <a:solidFill>
                  <a:srgbClr val="13A36F"/>
                </a:solidFill>
              </a:rPr>
              <a:t>83.3%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929482034441e"/>
          <a:stretch xmlns:a="http://schemas.openxmlformats.org/drawingml/2006/main"/>
        </p:blipFill>
        <p:spPr>
          <a:xfrm xmlns:a="http://schemas.openxmlformats.org/drawingml/2006/main">
            <a:off x="7667625" y="1630482"/>
            <a:ext cx="3524250" cy="3025535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B89C03-0F3A-4DC7-93B6-4CE83D21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Models evaluated: Logistic Regression, SVM, Decision Tree, and K-Nearest Neighbors.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BBB8B8-0005-47EE-B3EF-DFCD4E39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Decision tree leads cross-validation, while identical test scores reflect the small 18-case test set.</a:t>
            </a:r>
          </a:p>
        </p:txBody>
      </p:sp>
    </p:spTree>
    <p:extLst>
      <p:ext uri="{BB962C8B-B14F-4D97-AF65-F5344CB8AC3E}">
        <p14:creationId xmlns:p14="http://schemas.microsoft.com/office/powerpoint/2010/main" val="11229461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5A6D2-E818-4421-8913-CB8CA164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RESULTS, FINDINGS, AND 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557ED4-10F5-45FA-AD93-1F105DE2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Results and Findings: landing success reflects operational maturity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9AE82A-F211-4A3B-A98F-FA362121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210C7C-0D1B-4E2A-88EF-CFC1071A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64953-4FDB-49B1-B91C-EA8DEF72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240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Performance improves over 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FC3AA-A712-4890-8EE8-B6480EEB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240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646C"/>
                </a:solidFill>
              </a:defRPr>
            </a:pPr>
            <a:r>
              <a:rPr sz="1500" b="0">
                <a:solidFill>
                  <a:srgbClr val="60646C"/>
                </a:solidFill>
              </a:rPr>
              <a:t>Later flights show stronger landing outcomes as operations mature.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894EC6-DA55-4963-B169-A97205264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C3962F-05EF-4640-8BA0-415892DD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908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Site and orbit matter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92A71E-97D5-439B-8302-0BBAF534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908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646C"/>
                </a:solidFill>
              </a:defRPr>
            </a:pPr>
            <a:r>
              <a:rPr sz="1500" b="0">
                <a:solidFill>
                  <a:srgbClr val="60646C"/>
                </a:solidFill>
              </a:rPr>
              <a:t>KSC leads successful launches; outcome rates differ across sites and orbit profiles.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E66520-26C3-4FBD-8CBA-712DA626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B24C09-7ADD-40B3-8DAD-9CCBFCDA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576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Reusable hardware features carry signal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671C8C-907C-46B9-924C-4174D2B7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576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646C"/>
                </a:solidFill>
              </a:defRPr>
            </a:pPr>
            <a:r>
              <a:rPr sz="1500" b="0">
                <a:solidFill>
                  <a:srgbClr val="60646C"/>
                </a:solidFill>
              </a:rPr>
              <a:t>Grid fins, legs, reuse history, block, orbit, and payload contribute to prediction.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050185-D3A0-4DF9-BDD7-FB080EA32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84F72A-8DC1-47B4-8B4A-BFD88500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724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Models require broader validation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9D5EC8-78D0-4A90-901D-3039DE16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7244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646C"/>
                </a:solidFill>
              </a:defRPr>
            </a:pPr>
            <a:r>
              <a:rPr sz="1500" b="0">
                <a:solidFill>
                  <a:srgbClr val="60646C"/>
                </a:solidFill>
              </a:rPr>
              <a:t>83.3% test accuracy is promising, though the test set contains only 18 launches.</a:t>
            </a:r>
          </a:p>
        </p:txBody>
      </p:sp>
    </p:spTree>
    <p:extLst>
      <p:ext uri="{BB962C8B-B14F-4D97-AF65-F5344CB8AC3E}">
        <p14:creationId xmlns:p14="http://schemas.microsoft.com/office/powerpoint/2010/main" val="151959419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562889-A034-4FF2-8039-63A7DB2A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PROJECT ASSETS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E82D63-48D6-4BF3-927D-19DBB75B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Submission package maps directly to the capstone rubric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31E4C1-EA11-4C29-8FDC-D7CAC5BC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A7B05-5BDD-41D2-B433-539198B8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Included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80BB7F-9217-4415-B164-3A2364B6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API collection notebook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Web scraping notebook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Data wrangling notebook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EDA visualization notebook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SQL notebook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Folium notebook + HTML map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Dash application + screenshots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Machine learning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743665-8C41-4AA7-96A3-4C8CDD13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5391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2CABA-E14C-4511-9927-FF3FDEDB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857375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Public GitHub repository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5D5DE8-4F01-4E74-BA7E-4BDFB3E0D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381250"/>
            <a:ext cx="4381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All completed notebooks, dashboard code, screenshots, map, presentation, and report are available in the repository.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044E39-CC4C-4699-8511-8CE17174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762375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https://github.com/TristinWen/spacex-falcon9-landing-prediction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12821401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37161B4-0A5F-48B8-AB5F-3A47ECA3D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IBM CAPSTONE AUTOMATED-GRADING INDEX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673F04-3CB0-4F74-B1BB-A1E546FE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Rubric Evidence Index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718742-2B87-4679-A34B-60E96EA4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751ECD-9EA1-48D1-9A92-974DA13C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14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4C8C3B-A503-4D18-863E-A07688CB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3667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GitHub Repository URL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0D73A4-4E12-49C5-BD6B-F6C46C1C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6287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96A36-87D1-4B54-AA8C-C26ED54D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81225"/>
            <a:ext cx="3667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Executive Summary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4942D0-4510-46DD-B2F4-39AFFAC6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18122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E9218A-0446-4A79-8262-79B6B0FE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514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549C96-F771-4FA7-9FC0-756F3BE1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3667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Introduction / Business Problem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A04D94-5D5D-4BDC-ADB7-52E1B229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336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8C0125-C9F3-4A08-A569-7CAB52BC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86125"/>
            <a:ext cx="3667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Methodology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F3B933-8C50-4334-A145-B62645CB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8612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DB2E95-43DE-41EF-8AEA-C1F9C358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514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4CEBA5-2343-4835-8749-BB2810D2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3667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SpaceX API Data Collection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EBDF7-1099-458A-A721-3FA67B15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385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BBD41A-7B18-4BCD-9E6F-0394786E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91025"/>
            <a:ext cx="3667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Web Scraping Data Collection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B1504F-8DB6-4A83-90B0-AF3FE236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39102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6097E2-82A3-44D1-A10D-C59FAB87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514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7351B1-0F18-4619-AA7B-A9B524EB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43475"/>
            <a:ext cx="3667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Data Wrangling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EAD08B-2287-42F1-B804-B655F888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9434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BD49B5-30AB-4C79-89B3-90E078FF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95925"/>
            <a:ext cx="3667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EDA with Visualization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85B2DD-1AD4-4726-AEFB-8DAE3DE5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49592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82464C-CE9B-48C1-8728-F56B6902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53911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DDBFA9-D64D-485D-8510-69BB6AD3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28775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EDA with SQL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042835-2FEF-41AE-8A1B-6D7CDEA3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628775"/>
            <a:ext cx="100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10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12E919-F739-4BE4-9152-0C33A0F3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81225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Folium Interactive Map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17EA3F-F2F5-48C8-AAB5-1EB80FED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181225"/>
            <a:ext cx="100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11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DB6581-B8E6-495B-9AE4-3C09F1F88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53911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80AA9E-C03A-439E-9891-0992E3B4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33675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Plotly Dash - All Sites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379FB3-6BE9-430E-9612-9B48E03A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33675"/>
            <a:ext cx="100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12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91778C-38F3-496C-8370-E5C68652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86125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Plotly Dash - Site &amp; Payload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2BE278-5ED9-4674-963C-121E2BB2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286125"/>
            <a:ext cx="100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13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493F15-3AB8-4BAB-BA8F-8E2F700B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33800"/>
            <a:ext cx="53911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E9DF7D-12B1-4C05-A09D-DB3CCD66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38575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Predictive Analysis / ML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11C376-B615-470D-8E6C-C9E8272AD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838575"/>
            <a:ext cx="100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14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9F98598-F6B4-4E56-B3BD-94ECECD6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91025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Results and Findings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29BF1A-5D5E-4F59-85DA-72CA00B3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391025"/>
            <a:ext cx="100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15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023F10-84EB-44C3-ACA7-11AB605F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38700"/>
            <a:ext cx="53911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2A311CF-EF87-4702-85A2-96F84B1D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43475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Project Assets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7D5A51-9397-44B0-9B28-66591A8A0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943475"/>
            <a:ext cx="100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Slide 16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16F9D4-8977-4B38-9073-F7B0F4CC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95925"/>
            <a:ext cx="3762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Complete Presentation PDF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9EFC7F0-FB10-42F6-A58C-9900A4CE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95925"/>
            <a:ext cx="100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17 slides</a:t>
            </a:r>
          </a:p>
        </p:txBody>
      </p:sp>
    </p:spTree>
    <p:extLst>
      <p:ext uri="{BB962C8B-B14F-4D97-AF65-F5344CB8AC3E}">
        <p14:creationId xmlns:p14="http://schemas.microsoft.com/office/powerpoint/2010/main" val="2896723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2026-08-28T13:38:49.6280000Z</dcterms:created>
  <dcterms:modified xsi:type="dcterms:W3CDTF">2026-08-28T13:38:49.6280000Z</dcterms:modified>
</coreProperties>
</file>